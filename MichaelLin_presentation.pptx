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4" r:id="rId5"/>
    <p:sldId id="259" r:id="rId6"/>
    <p:sldId id="261" r:id="rId7"/>
    <p:sldId id="260" r:id="rId8"/>
    <p:sldId id="262" r:id="rId9"/>
    <p:sldId id="263" r:id="rId10"/>
    <p:sldId id="265" r:id="rId11"/>
    <p:sldId id="266" r:id="rId12"/>
    <p:sldId id="267" r:id="rId13"/>
    <p:sldId id="271" r:id="rId14"/>
    <p:sldId id="270" r:id="rId15"/>
    <p:sldId id="269" r:id="rId16"/>
    <p:sldId id="272" r:id="rId17"/>
    <p:sldId id="273" r:id="rId18"/>
    <p:sldId id="274" r:id="rId19"/>
    <p:sldId id="275" r:id="rId20"/>
    <p:sldId id="278" r:id="rId21"/>
    <p:sldId id="276" r:id="rId22"/>
    <p:sldId id="277" r:id="rId23"/>
    <p:sldId id="279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D973"/>
    <a:srgbClr val="F7F5EF"/>
    <a:srgbClr val="A6CAEC"/>
    <a:srgbClr val="FFFF00"/>
    <a:srgbClr val="0FDF2D"/>
    <a:srgbClr val="4AAE22"/>
    <a:srgbClr val="0ED02A"/>
    <a:srgbClr val="42CF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3B5A1-A34A-41AF-9B9B-BEB2D70054F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E868F-E282-4A72-9FB6-60385CA05D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9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868F-E282-4A72-9FB6-60385CA05D6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16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Also mention why project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E868F-E282-4A72-9FB6-60385CA05D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787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F78AB-8845-D096-AE09-B74FA52A5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7BFB96-7A0F-5BD0-2EF2-FC9EA5329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6D90D-6DF5-A646-ADAD-A7E02D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79A47-E705-995C-3B31-103F0701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83B14-680D-1A54-52FC-F0F921A9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9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B3CCE-CA1D-90F8-8936-EC05CB5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E82D5A-9660-2893-DB1A-630B0F4CE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4DCA0-FD35-89C1-41BE-73A0D307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F808-A235-1A93-D967-8F7F9CD8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157E46-D3E1-3CB7-0A31-B0FB701D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76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F599E-FF64-1505-D5B1-CDE3C6E0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92459-BBE2-AA3A-64C8-413604830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525AD8-C17E-CBEC-A325-5A492653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9DC5DE-62DA-9B0D-9B9C-927E7ABD2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45916E-51A0-D8D1-0654-49673B16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20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EAD2E-852E-BBD8-9ED1-7BD7D114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C63F8-6DA0-3D20-71EB-3FE5F7827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33EED-1567-AD4B-7A06-1A2010762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164E87-88D3-C00E-B0D0-CF1B94E39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E7B44-F331-BD4C-7BC6-6BA73EA7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C8C561-339B-D10C-DCF6-96099113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2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5A0BB-E5A4-995B-3B2C-7336E132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AB391B-4F30-4B17-72EE-6F9AF78B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4F4A00-930D-3EAA-A6C7-3C34346A7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EB1722-8D4C-FDF4-CF66-7AA803EC3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A41BD2-8865-BAFF-B303-3E6BA059E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CDA5B2-A5B0-D697-578D-7E089B40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6038D2-BBFF-E267-3C42-A1577375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3F60C0-EF7F-7771-85B1-3D93871F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95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3DC2E-F5D6-937C-990D-B75E4ECB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35AAAF-AC0A-6CA7-5971-F5EAE621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9AAE51-5850-C822-75E7-71298D98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9E18F1-699A-8C54-3F67-741CD5F6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66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FD94E4-2F62-73D5-5C74-7F7650E4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1D413A-3641-D20A-46D4-7DF08535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1A0F3-1075-BDD7-C097-BD9852D5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37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5AA11-3547-68FA-C1F0-17A8B0E9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E7C7C-3CF9-1139-D9E7-AD0D2403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C3BE8-28CE-6310-C5E5-20CBD82B3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73460-2CC1-FB47-09E2-B49565AF1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C1BEC2-8A08-0EF4-0D21-6FB2C85F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5ECD58-6850-9FDF-1E39-ACF92F2A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66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B907C-EE36-C1F1-128F-AF42D30C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DD667D-ECB2-CFDC-E019-A5ABAD2E9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234391-E180-6157-5068-821B588D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C961E8-88D8-07D8-BA65-D0658E6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540F52-3FC0-E342-D759-E54C58A0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43688B-4ABE-A6D9-952D-3232D070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3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85E3F-ED52-8382-1479-363D4824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EBF317-4947-41A1-1658-C7D5806D2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8C34A-D325-9DFC-06B2-34A0CEC2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07C07-0C15-7A0F-CD3C-78AD44AC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09206-D57E-8CF1-C876-3CA8CB76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92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09D886-5A0E-C8A2-29A9-97A6E1C71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1E96F-20D8-D192-3F74-5D15F9270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DDFF7-F84D-630D-F99C-71775DC6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31C2F-BF95-5669-478C-CAB8453B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43557-D79F-F98B-80CE-39C0F5C6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05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2B07AE-72B4-5C6A-6A1B-34B39E47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D4A9DE-5389-A4CB-276F-3EC5DF54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8BCE5-1B98-28D5-2D02-8EC5CAF9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DECF6-83B9-4A5A-819D-3B7379C85E21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E88F3-779F-FF0D-5F10-6C24E749F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7E8FD-2020-CDA1-CF8A-BA40C7C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C19B7-AD15-442B-AB11-FA6F664B2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65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10791A-989C-F457-C266-3D9BF2475D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DCC5EA-3108-01F5-42DC-888DF94AD7B9}"/>
              </a:ext>
            </a:extLst>
          </p:cNvPr>
          <p:cNvSpPr txBox="1"/>
          <p:nvPr/>
        </p:nvSpPr>
        <p:spPr>
          <a:xfrm>
            <a:off x="2214402" y="2129508"/>
            <a:ext cx="776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Co-</a:t>
            </a:r>
            <a:r>
              <a:rPr lang="en-US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Context-aware Emotion and Personality Alignment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54BE944-CE2E-8BEB-E660-3D5394097AF7}"/>
              </a:ext>
            </a:extLst>
          </p:cNvPr>
          <p:cNvCxnSpPr>
            <a:cxnSpLocks/>
          </p:cNvCxnSpPr>
          <p:nvPr/>
        </p:nvCxnSpPr>
        <p:spPr>
          <a:xfrm>
            <a:off x="1521953" y="4361811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B0D9683-6E00-DC16-64AD-1603D570981F}"/>
              </a:ext>
            </a:extLst>
          </p:cNvPr>
          <p:cNvSpPr txBox="1"/>
          <p:nvPr/>
        </p:nvSpPr>
        <p:spPr>
          <a:xfrm>
            <a:off x="3203468" y="4655123"/>
            <a:ext cx="597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Michael Lin · Senior Project Presentation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27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FB19D3-B1AF-A649-F14A-7B9CF165C6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E408D1-17A7-C400-5C7F-627D2B388E57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18656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0C93D74-A76F-76ED-2DC5-AC4B96D22AC0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5F04CF-DCF5-8BBA-7DDA-C9CF13744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29" y="3650123"/>
            <a:ext cx="6629741" cy="6731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2F68E6E-30E0-633D-B385-C1365C3D7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780" y="874419"/>
            <a:ext cx="6172517" cy="9970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293018C-296C-C75A-EAA7-D10AA20520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77" y="1729468"/>
            <a:ext cx="6750397" cy="109225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7DD4AAB-C2C2-10E8-B73C-C21488B539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784" y="2864945"/>
            <a:ext cx="7417181" cy="93984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D1AFFA5-103E-8588-176B-189687639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780" y="4553268"/>
            <a:ext cx="4597636" cy="3619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3A6F82A-96EE-A93C-5455-E29EC787C4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886" y="4161499"/>
            <a:ext cx="8331628" cy="40642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70861F7-EB63-4AC8-9C44-83E418C3C3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844" y="4978915"/>
            <a:ext cx="4483330" cy="66678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F663FEF-34DB-C1BD-4830-3E7C43F8AC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308" y="613647"/>
            <a:ext cx="4559534" cy="72393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29FAF9F-C7A6-A931-A052-9C9E89F3BD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10" y="4312131"/>
            <a:ext cx="3340272" cy="66678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2A7FB74-B37E-B58E-EB08-D618664104BA}"/>
              </a:ext>
            </a:extLst>
          </p:cNvPr>
          <p:cNvSpPr/>
          <p:nvPr/>
        </p:nvSpPr>
        <p:spPr>
          <a:xfrm>
            <a:off x="10979063" y="975615"/>
            <a:ext cx="507304" cy="361969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F47798-AA56-B7D6-8769-7BCDD9CE0D8A}"/>
              </a:ext>
            </a:extLst>
          </p:cNvPr>
          <p:cNvSpPr/>
          <p:nvPr/>
        </p:nvSpPr>
        <p:spPr>
          <a:xfrm>
            <a:off x="2559738" y="1062684"/>
            <a:ext cx="258618" cy="20333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ADCCF5-F5F3-50A3-DAB0-903E0C07DA8C}"/>
              </a:ext>
            </a:extLst>
          </p:cNvPr>
          <p:cNvSpPr/>
          <p:nvPr/>
        </p:nvSpPr>
        <p:spPr>
          <a:xfrm>
            <a:off x="4552267" y="2005957"/>
            <a:ext cx="357935" cy="35165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504B94-FE64-657D-C64C-D59CAB476463}"/>
              </a:ext>
            </a:extLst>
          </p:cNvPr>
          <p:cNvSpPr/>
          <p:nvPr/>
        </p:nvSpPr>
        <p:spPr>
          <a:xfrm>
            <a:off x="3886108" y="3329062"/>
            <a:ext cx="748522" cy="34771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FE3F10-EBCB-412E-30DD-8820F4465029}"/>
              </a:ext>
            </a:extLst>
          </p:cNvPr>
          <p:cNvSpPr/>
          <p:nvPr/>
        </p:nvSpPr>
        <p:spPr>
          <a:xfrm>
            <a:off x="1525110" y="3877008"/>
            <a:ext cx="410161" cy="34771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149F1C-0913-2E43-8FF0-604C5BD488CF}"/>
              </a:ext>
            </a:extLst>
          </p:cNvPr>
          <p:cNvSpPr/>
          <p:nvPr/>
        </p:nvSpPr>
        <p:spPr>
          <a:xfrm>
            <a:off x="8204324" y="4161499"/>
            <a:ext cx="503956" cy="34771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88171C8-F083-B106-789D-645AF76BB9CD}"/>
              </a:ext>
            </a:extLst>
          </p:cNvPr>
          <p:cNvSpPr/>
          <p:nvPr/>
        </p:nvSpPr>
        <p:spPr>
          <a:xfrm>
            <a:off x="8976700" y="4553268"/>
            <a:ext cx="480451" cy="30683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ABFDB99-8B61-E383-C14C-4FB10E9B81D4}"/>
              </a:ext>
            </a:extLst>
          </p:cNvPr>
          <p:cNvSpPr/>
          <p:nvPr/>
        </p:nvSpPr>
        <p:spPr>
          <a:xfrm>
            <a:off x="5233506" y="5314882"/>
            <a:ext cx="346839" cy="252937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51E5858-88FD-A496-2162-DEFDC3569D96}"/>
              </a:ext>
            </a:extLst>
          </p:cNvPr>
          <p:cNvSpPr/>
          <p:nvPr/>
        </p:nvSpPr>
        <p:spPr>
          <a:xfrm>
            <a:off x="3868299" y="4682272"/>
            <a:ext cx="266749" cy="252937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9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E308-F86E-DCC1-BA25-1B910BC9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BF21F0-196C-F052-D5FA-B8498F1865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5341B30-FB8B-0EBF-178B-44527CA2FE50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35563F1-CD43-3D16-993F-636100DFA899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Large Language Model?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B18DC2-FE31-4E08-5451-6F178BD26F5C}"/>
              </a:ext>
            </a:extLst>
          </p:cNvPr>
          <p:cNvSpPr txBox="1"/>
          <p:nvPr/>
        </p:nvSpPr>
        <p:spPr>
          <a:xfrm>
            <a:off x="233201" y="1406278"/>
            <a:ext cx="8892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type of Artificial Intelligence that encodes natural language into numbers and decodes these numbers into another response in natural language. 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DAA24EB-EF4C-A29D-3E03-7845E349E54E}"/>
              </a:ext>
            </a:extLst>
          </p:cNvPr>
          <p:cNvGrpSpPr/>
          <p:nvPr/>
        </p:nvGrpSpPr>
        <p:grpSpPr>
          <a:xfrm>
            <a:off x="540047" y="2416411"/>
            <a:ext cx="559993" cy="559993"/>
            <a:chOff x="533911" y="2299809"/>
            <a:chExt cx="559993" cy="55999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7990353-E7B4-D9E1-D4C0-A0DACC8BBA63}"/>
                </a:ext>
              </a:extLst>
            </p:cNvPr>
            <p:cNvSpPr/>
            <p:nvPr/>
          </p:nvSpPr>
          <p:spPr>
            <a:xfrm>
              <a:off x="533911" y="2299809"/>
              <a:ext cx="559993" cy="559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CECBFB0-3978-AE63-E4CD-A0929B16B624}"/>
                </a:ext>
              </a:extLst>
            </p:cNvPr>
            <p:cNvSpPr/>
            <p:nvPr/>
          </p:nvSpPr>
          <p:spPr>
            <a:xfrm>
              <a:off x="708780" y="2435557"/>
              <a:ext cx="221727" cy="221727"/>
            </a:xfrm>
            <a:prstGeom prst="ellipse">
              <a:avLst/>
            </a:prstGeom>
            <a:solidFill>
              <a:srgbClr val="42C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1C273A55-02E8-6FA4-D917-A2B128CA7E13}"/>
                </a:ext>
              </a:extLst>
            </p:cNvPr>
            <p:cNvSpPr/>
            <p:nvPr/>
          </p:nvSpPr>
          <p:spPr>
            <a:xfrm>
              <a:off x="703043" y="2631938"/>
              <a:ext cx="221727" cy="221727"/>
            </a:xfrm>
            <a:prstGeom prst="trapezoid">
              <a:avLst/>
            </a:prstGeom>
            <a:solidFill>
              <a:srgbClr val="42C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A489F2-5B5F-1D5F-6BCB-BEF8226E3EC8}"/>
              </a:ext>
            </a:extLst>
          </p:cNvPr>
          <p:cNvGrpSpPr/>
          <p:nvPr/>
        </p:nvGrpSpPr>
        <p:grpSpPr>
          <a:xfrm>
            <a:off x="1213940" y="2698094"/>
            <a:ext cx="2492755" cy="559993"/>
            <a:chOff x="1213939" y="2698094"/>
            <a:chExt cx="2666777" cy="55999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78F9142-A90F-9878-5940-7F2EBBE73151}"/>
                </a:ext>
              </a:extLst>
            </p:cNvPr>
            <p:cNvSpPr/>
            <p:nvPr/>
          </p:nvSpPr>
          <p:spPr>
            <a:xfrm>
              <a:off x="1213939" y="2698094"/>
              <a:ext cx="2666777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4259D6F-1FF2-A86C-CBFA-4B8875FA57DA}"/>
                </a:ext>
              </a:extLst>
            </p:cNvPr>
            <p:cNvSpPr txBox="1"/>
            <p:nvPr/>
          </p:nvSpPr>
          <p:spPr>
            <a:xfrm>
              <a:off x="1213939" y="2776349"/>
              <a:ext cx="25541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How are you today?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74C2055-AA3E-A73E-2D66-A93E91EE4779}"/>
              </a:ext>
            </a:extLst>
          </p:cNvPr>
          <p:cNvGrpSpPr/>
          <p:nvPr/>
        </p:nvGrpSpPr>
        <p:grpSpPr>
          <a:xfrm>
            <a:off x="7635598" y="3426697"/>
            <a:ext cx="559993" cy="559993"/>
            <a:chOff x="7635598" y="3426697"/>
            <a:chExt cx="559993" cy="55999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B4601F8-5BF5-83DE-52F4-23E42F19B363}"/>
                </a:ext>
              </a:extLst>
            </p:cNvPr>
            <p:cNvSpPr/>
            <p:nvPr/>
          </p:nvSpPr>
          <p:spPr>
            <a:xfrm>
              <a:off x="7635598" y="3426697"/>
              <a:ext cx="559993" cy="559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FBE0472-E4C7-E456-8C79-10EF59976F22}"/>
                </a:ext>
              </a:extLst>
            </p:cNvPr>
            <p:cNvSpPr txBox="1"/>
            <p:nvPr/>
          </p:nvSpPr>
          <p:spPr>
            <a:xfrm>
              <a:off x="7713077" y="3522027"/>
              <a:ext cx="405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AI</a:t>
              </a:r>
              <a:endParaRPr lang="zh-CN" altLang="en-US" b="1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1FFA52D-168D-3C47-2A14-635825C33A7B}"/>
              </a:ext>
            </a:extLst>
          </p:cNvPr>
          <p:cNvGrpSpPr/>
          <p:nvPr/>
        </p:nvGrpSpPr>
        <p:grpSpPr>
          <a:xfrm>
            <a:off x="5142733" y="3735550"/>
            <a:ext cx="2642908" cy="559993"/>
            <a:chOff x="3088237" y="2698094"/>
            <a:chExt cx="2707275" cy="559993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E2F4AB8-EC63-6BB5-7C13-BFDFC5973AC1}"/>
                </a:ext>
              </a:extLst>
            </p:cNvPr>
            <p:cNvSpPr/>
            <p:nvPr/>
          </p:nvSpPr>
          <p:spPr>
            <a:xfrm>
              <a:off x="3088237" y="2698094"/>
              <a:ext cx="2433815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9C5EC9E-16A4-88BC-1F41-FF76E7822CA8}"/>
                </a:ext>
              </a:extLst>
            </p:cNvPr>
            <p:cNvSpPr txBox="1"/>
            <p:nvPr/>
          </p:nvSpPr>
          <p:spPr>
            <a:xfrm>
              <a:off x="3146468" y="2776349"/>
              <a:ext cx="26490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I’m fine thank you.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28527AE-A312-7C96-A41B-047A8AC15859}"/>
              </a:ext>
            </a:extLst>
          </p:cNvPr>
          <p:cNvGrpSpPr/>
          <p:nvPr/>
        </p:nvGrpSpPr>
        <p:grpSpPr>
          <a:xfrm>
            <a:off x="540047" y="4496364"/>
            <a:ext cx="559993" cy="559993"/>
            <a:chOff x="533911" y="2299809"/>
            <a:chExt cx="559993" cy="55999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F5785323-12A4-870F-DA8E-9B53F1CCE1C5}"/>
                </a:ext>
              </a:extLst>
            </p:cNvPr>
            <p:cNvSpPr/>
            <p:nvPr/>
          </p:nvSpPr>
          <p:spPr>
            <a:xfrm>
              <a:off x="533911" y="2299809"/>
              <a:ext cx="559993" cy="559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776BD51-F2C3-538F-696A-26D2F3A77C33}"/>
                </a:ext>
              </a:extLst>
            </p:cNvPr>
            <p:cNvSpPr/>
            <p:nvPr/>
          </p:nvSpPr>
          <p:spPr>
            <a:xfrm>
              <a:off x="708780" y="2435557"/>
              <a:ext cx="221727" cy="221727"/>
            </a:xfrm>
            <a:prstGeom prst="ellipse">
              <a:avLst/>
            </a:prstGeom>
            <a:solidFill>
              <a:srgbClr val="42C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梯形 23">
              <a:extLst>
                <a:ext uri="{FF2B5EF4-FFF2-40B4-BE49-F238E27FC236}">
                  <a16:creationId xmlns:a16="http://schemas.microsoft.com/office/drawing/2014/main" id="{2DEEDC48-C539-1D16-4C53-14BAC1C755F2}"/>
                </a:ext>
              </a:extLst>
            </p:cNvPr>
            <p:cNvSpPr/>
            <p:nvPr/>
          </p:nvSpPr>
          <p:spPr>
            <a:xfrm>
              <a:off x="703043" y="2631938"/>
              <a:ext cx="221727" cy="221727"/>
            </a:xfrm>
            <a:prstGeom prst="trapezoid">
              <a:avLst/>
            </a:prstGeom>
            <a:solidFill>
              <a:srgbClr val="42C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1CFBD09-31DC-A43D-1721-2978102BA361}"/>
              </a:ext>
            </a:extLst>
          </p:cNvPr>
          <p:cNvGrpSpPr/>
          <p:nvPr/>
        </p:nvGrpSpPr>
        <p:grpSpPr>
          <a:xfrm>
            <a:off x="1213940" y="4778047"/>
            <a:ext cx="4882060" cy="786141"/>
            <a:chOff x="1213939" y="2698094"/>
            <a:chExt cx="2666777" cy="78614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83AE7393-2057-544A-ADD5-E9FC036A4BD4}"/>
                </a:ext>
              </a:extLst>
            </p:cNvPr>
            <p:cNvSpPr/>
            <p:nvPr/>
          </p:nvSpPr>
          <p:spPr>
            <a:xfrm>
              <a:off x="1213939" y="2698094"/>
              <a:ext cx="2666777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ED7B5DC-F4E4-0670-3559-EE79DAC9DA53}"/>
                </a:ext>
              </a:extLst>
            </p:cNvPr>
            <p:cNvSpPr txBox="1"/>
            <p:nvPr/>
          </p:nvSpPr>
          <p:spPr>
            <a:xfrm>
              <a:off x="1213939" y="2776349"/>
              <a:ext cx="25541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Why is the answer to the universe “42”?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E9B45F8-9EE0-3B30-47CE-FB831724B4DA}"/>
              </a:ext>
            </a:extLst>
          </p:cNvPr>
          <p:cNvGrpSpPr/>
          <p:nvPr/>
        </p:nvGrpSpPr>
        <p:grpSpPr>
          <a:xfrm>
            <a:off x="7635598" y="5415118"/>
            <a:ext cx="559993" cy="559993"/>
            <a:chOff x="7635598" y="3426697"/>
            <a:chExt cx="559993" cy="559993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D754207A-A302-25B3-0DB8-FE0F83C481EF}"/>
                </a:ext>
              </a:extLst>
            </p:cNvPr>
            <p:cNvSpPr/>
            <p:nvPr/>
          </p:nvSpPr>
          <p:spPr>
            <a:xfrm>
              <a:off x="7635598" y="3426697"/>
              <a:ext cx="559993" cy="55999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0CCD037-D9DA-50C1-0D9D-F26E8BED5601}"/>
                </a:ext>
              </a:extLst>
            </p:cNvPr>
            <p:cNvSpPr txBox="1"/>
            <p:nvPr/>
          </p:nvSpPr>
          <p:spPr>
            <a:xfrm>
              <a:off x="7713077" y="3522027"/>
              <a:ext cx="405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AI</a:t>
              </a:r>
              <a:endParaRPr lang="zh-CN" altLang="en-US" b="1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151FB0C-68D9-C5C3-F772-3434DC184C57}"/>
              </a:ext>
            </a:extLst>
          </p:cNvPr>
          <p:cNvGrpSpPr/>
          <p:nvPr/>
        </p:nvGrpSpPr>
        <p:grpSpPr>
          <a:xfrm>
            <a:off x="6842657" y="5723971"/>
            <a:ext cx="942984" cy="559993"/>
            <a:chOff x="4829562" y="2698094"/>
            <a:chExt cx="965950" cy="559993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8AD38416-26A5-4099-817C-C5EBA07B8176}"/>
                </a:ext>
              </a:extLst>
            </p:cNvPr>
            <p:cNvSpPr/>
            <p:nvPr/>
          </p:nvSpPr>
          <p:spPr>
            <a:xfrm>
              <a:off x="4829562" y="2698094"/>
              <a:ext cx="692489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09FE0FC-E70F-4589-55AE-B43966BF2912}"/>
                </a:ext>
              </a:extLst>
            </p:cNvPr>
            <p:cNvSpPr txBox="1"/>
            <p:nvPr/>
          </p:nvSpPr>
          <p:spPr>
            <a:xfrm>
              <a:off x="4967863" y="2776349"/>
              <a:ext cx="8276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96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A30C-7DC4-417D-858B-20F61624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97B965-9BDA-C21C-87D9-EB24470531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DE4B335-EF66-28A3-77B9-C2E1BFB039F0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0073282-BCD9-FCE5-756A-8CCC12A700C9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Large Language Model?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B37953B-7D0E-C40F-9130-7DC2E7A41614}"/>
              </a:ext>
            </a:extLst>
          </p:cNvPr>
          <p:cNvGrpSpPr/>
          <p:nvPr/>
        </p:nvGrpSpPr>
        <p:grpSpPr>
          <a:xfrm>
            <a:off x="2576335" y="1623673"/>
            <a:ext cx="4882060" cy="786141"/>
            <a:chOff x="1213939" y="2698094"/>
            <a:chExt cx="2666777" cy="78614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1A9FE687-9EA6-E783-94FB-808D992E7350}"/>
                </a:ext>
              </a:extLst>
            </p:cNvPr>
            <p:cNvSpPr/>
            <p:nvPr/>
          </p:nvSpPr>
          <p:spPr>
            <a:xfrm>
              <a:off x="1213939" y="2698094"/>
              <a:ext cx="2666777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CBD27D3-F2A0-DA83-7321-F445AF736274}"/>
                </a:ext>
              </a:extLst>
            </p:cNvPr>
            <p:cNvSpPr txBox="1"/>
            <p:nvPr/>
          </p:nvSpPr>
          <p:spPr>
            <a:xfrm>
              <a:off x="1213939" y="2776349"/>
              <a:ext cx="25541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Why is the answer to the universe “42”?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5BA38E4-7E57-B3B3-4973-BD685DB1AFAC}"/>
              </a:ext>
            </a:extLst>
          </p:cNvPr>
          <p:cNvSpPr/>
          <p:nvPr/>
        </p:nvSpPr>
        <p:spPr>
          <a:xfrm>
            <a:off x="3152954" y="3429000"/>
            <a:ext cx="3522589" cy="651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Transformer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607955D-5440-A4DA-56E6-81563AB6A6F6}"/>
              </a:ext>
            </a:extLst>
          </p:cNvPr>
          <p:cNvGrpSpPr/>
          <p:nvPr/>
        </p:nvGrpSpPr>
        <p:grpSpPr>
          <a:xfrm>
            <a:off x="4369211" y="2344074"/>
            <a:ext cx="1296308" cy="969631"/>
            <a:chOff x="4392609" y="2344073"/>
            <a:chExt cx="1296308" cy="969631"/>
          </a:xfrm>
          <a:solidFill>
            <a:srgbClr val="A6CAEC"/>
          </a:solidFill>
        </p:grpSpPr>
        <p:sp>
          <p:nvSpPr>
            <p:cNvPr id="39" name="梯形 38">
              <a:extLst>
                <a:ext uri="{FF2B5EF4-FFF2-40B4-BE49-F238E27FC236}">
                  <a16:creationId xmlns:a16="http://schemas.microsoft.com/office/drawing/2014/main" id="{085DA202-2106-EF10-9DAD-C15305E59A4B}"/>
                </a:ext>
              </a:extLst>
            </p:cNvPr>
            <p:cNvSpPr/>
            <p:nvPr/>
          </p:nvSpPr>
          <p:spPr>
            <a:xfrm rot="10800000">
              <a:off x="4392609" y="2344073"/>
              <a:ext cx="1296308" cy="969631"/>
            </a:xfrm>
            <a:prstGeom prst="trapezoid">
              <a:avLst>
                <a:gd name="adj" fmla="val 27273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2855DF0-FDAD-1043-1ED1-8C10BD4C05AD}"/>
                </a:ext>
              </a:extLst>
            </p:cNvPr>
            <p:cNvSpPr txBox="1"/>
            <p:nvPr/>
          </p:nvSpPr>
          <p:spPr>
            <a:xfrm>
              <a:off x="4562083" y="2570221"/>
              <a:ext cx="95735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Encode</a:t>
              </a:r>
              <a:endParaRPr lang="zh-CN" altLang="en-US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B92B5E3-5EAA-82D6-6B38-C7FF409E3769}"/>
              </a:ext>
            </a:extLst>
          </p:cNvPr>
          <p:cNvGrpSpPr/>
          <p:nvPr/>
        </p:nvGrpSpPr>
        <p:grpSpPr>
          <a:xfrm rot="10800000">
            <a:off x="4344664" y="4250429"/>
            <a:ext cx="1296308" cy="969631"/>
            <a:chOff x="4392609" y="2344073"/>
            <a:chExt cx="1296308" cy="969631"/>
          </a:xfrm>
        </p:grpSpPr>
        <p:sp>
          <p:nvSpPr>
            <p:cNvPr id="43" name="梯形 42">
              <a:extLst>
                <a:ext uri="{FF2B5EF4-FFF2-40B4-BE49-F238E27FC236}">
                  <a16:creationId xmlns:a16="http://schemas.microsoft.com/office/drawing/2014/main" id="{5897578D-7324-202B-9D0C-4C927488C90A}"/>
                </a:ext>
              </a:extLst>
            </p:cNvPr>
            <p:cNvSpPr/>
            <p:nvPr/>
          </p:nvSpPr>
          <p:spPr>
            <a:xfrm rot="10800000">
              <a:off x="4392609" y="2344073"/>
              <a:ext cx="1296308" cy="969631"/>
            </a:xfrm>
            <a:prstGeom prst="trapezoid">
              <a:avLst>
                <a:gd name="adj" fmla="val 27273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58B4331-5B01-A929-13A4-F10C5ACB08DA}"/>
                </a:ext>
              </a:extLst>
            </p:cNvPr>
            <p:cNvSpPr txBox="1"/>
            <p:nvPr/>
          </p:nvSpPr>
          <p:spPr>
            <a:xfrm rot="10800000">
              <a:off x="4562083" y="2570221"/>
              <a:ext cx="957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Decode</a:t>
              </a:r>
              <a:endParaRPr lang="zh-CN" altLang="en-US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8C02B0F-7A81-18DD-0246-91869787A3D0}"/>
              </a:ext>
            </a:extLst>
          </p:cNvPr>
          <p:cNvGrpSpPr/>
          <p:nvPr/>
        </p:nvGrpSpPr>
        <p:grpSpPr>
          <a:xfrm>
            <a:off x="1435557" y="5638054"/>
            <a:ext cx="853512" cy="559993"/>
            <a:chOff x="4850453" y="2698094"/>
            <a:chExt cx="393531" cy="559993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5BEE4F0-05F9-B0B9-FD3D-75F26ED68903}"/>
                </a:ext>
              </a:extLst>
            </p:cNvPr>
            <p:cNvSpPr/>
            <p:nvPr/>
          </p:nvSpPr>
          <p:spPr>
            <a:xfrm>
              <a:off x="4850453" y="2698094"/>
              <a:ext cx="393531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A582F5C-976E-4731-B4D8-8460B33B40B0}"/>
                </a:ext>
              </a:extLst>
            </p:cNvPr>
            <p:cNvSpPr txBox="1"/>
            <p:nvPr/>
          </p:nvSpPr>
          <p:spPr>
            <a:xfrm>
              <a:off x="4887812" y="2778035"/>
              <a:ext cx="3165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This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5" name="左大括号 54">
            <a:extLst>
              <a:ext uri="{FF2B5EF4-FFF2-40B4-BE49-F238E27FC236}">
                <a16:creationId xmlns:a16="http://schemas.microsoft.com/office/drawing/2014/main" id="{B54F831B-2EE9-FBA7-FF0B-0BD3EE875DB6}"/>
              </a:ext>
            </a:extLst>
          </p:cNvPr>
          <p:cNvSpPr>
            <a:spLocks/>
          </p:cNvSpPr>
          <p:nvPr/>
        </p:nvSpPr>
        <p:spPr>
          <a:xfrm>
            <a:off x="2643763" y="5388817"/>
            <a:ext cx="288435" cy="10616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06A4D91-663B-268F-8236-86939683D55B}"/>
              </a:ext>
            </a:extLst>
          </p:cNvPr>
          <p:cNvSpPr>
            <a:spLocks/>
          </p:cNvSpPr>
          <p:nvPr/>
        </p:nvSpPr>
        <p:spPr>
          <a:xfrm>
            <a:off x="3031635" y="5283882"/>
            <a:ext cx="3405986" cy="3541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8D99D9DF-C9AF-716E-19B7-C2BE3CE8F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66197"/>
              </p:ext>
            </p:extLst>
          </p:nvPr>
        </p:nvGraphicFramePr>
        <p:xfrm>
          <a:off x="3034033" y="5282614"/>
          <a:ext cx="3411188" cy="1463040"/>
        </p:xfrm>
        <a:graphic>
          <a:graphicData uri="http://schemas.openxmlformats.org/drawingml/2006/table">
            <a:tbl>
              <a:tblPr firstRow="1" bandRow="1"/>
              <a:tblGrid>
                <a:gridCol w="1705594">
                  <a:extLst>
                    <a:ext uri="{9D8B030D-6E8A-4147-A177-3AD203B41FA5}">
                      <a16:colId xmlns:a16="http://schemas.microsoft.com/office/drawing/2014/main" val="2121872837"/>
                    </a:ext>
                  </a:extLst>
                </a:gridCol>
                <a:gridCol w="1705594">
                  <a:extLst>
                    <a:ext uri="{9D8B030D-6E8A-4147-A177-3AD203B41FA5}">
                      <a16:colId xmlns:a16="http://schemas.microsoft.com/office/drawing/2014/main" val="4251132003"/>
                    </a:ext>
                  </a:extLst>
                </a:gridCol>
              </a:tblGrid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27225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has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071626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comes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3512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27935"/>
                  </a:ext>
                </a:extLst>
              </a:tr>
            </a:tbl>
          </a:graphicData>
        </a:graphic>
      </p:graphicFrame>
      <p:grpSp>
        <p:nvGrpSpPr>
          <p:cNvPr id="65" name="组合 64">
            <a:extLst>
              <a:ext uri="{FF2B5EF4-FFF2-40B4-BE49-F238E27FC236}">
                <a16:creationId xmlns:a16="http://schemas.microsoft.com/office/drawing/2014/main" id="{17251E07-6ED0-7433-EF80-544806984345}"/>
              </a:ext>
            </a:extLst>
          </p:cNvPr>
          <p:cNvGrpSpPr/>
          <p:nvPr/>
        </p:nvGrpSpPr>
        <p:grpSpPr>
          <a:xfrm>
            <a:off x="2382368" y="5638053"/>
            <a:ext cx="549831" cy="559993"/>
            <a:chOff x="4850453" y="2698094"/>
            <a:chExt cx="253512" cy="559993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2FE231DA-8CC7-7FBE-6D96-435319A878D7}"/>
                </a:ext>
              </a:extLst>
            </p:cNvPr>
            <p:cNvSpPr/>
            <p:nvPr/>
          </p:nvSpPr>
          <p:spPr>
            <a:xfrm>
              <a:off x="4850453" y="2698094"/>
              <a:ext cx="253512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B8D1FDF-DE93-6797-95CD-C023794751BC}"/>
                </a:ext>
              </a:extLst>
            </p:cNvPr>
            <p:cNvSpPr txBox="1"/>
            <p:nvPr/>
          </p:nvSpPr>
          <p:spPr>
            <a:xfrm>
              <a:off x="4887812" y="2778035"/>
              <a:ext cx="1799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8" name="左大括号 67">
            <a:extLst>
              <a:ext uri="{FF2B5EF4-FFF2-40B4-BE49-F238E27FC236}">
                <a16:creationId xmlns:a16="http://schemas.microsoft.com/office/drawing/2014/main" id="{C945474A-BCC4-0860-5FA3-4EAFB10F0395}"/>
              </a:ext>
            </a:extLst>
          </p:cNvPr>
          <p:cNvSpPr>
            <a:spLocks/>
          </p:cNvSpPr>
          <p:nvPr/>
        </p:nvSpPr>
        <p:spPr>
          <a:xfrm>
            <a:off x="3143926" y="5388817"/>
            <a:ext cx="288435" cy="10616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9EF8096-B2B6-3344-38A4-FB3C72CC33E1}"/>
              </a:ext>
            </a:extLst>
          </p:cNvPr>
          <p:cNvSpPr>
            <a:spLocks/>
          </p:cNvSpPr>
          <p:nvPr/>
        </p:nvSpPr>
        <p:spPr>
          <a:xfrm>
            <a:off x="3542254" y="5282614"/>
            <a:ext cx="3405986" cy="3541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E2941379-4AAB-4CB3-2CF3-8CBE9ADDE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54983"/>
              </p:ext>
            </p:extLst>
          </p:nvPr>
        </p:nvGraphicFramePr>
        <p:xfrm>
          <a:off x="3534196" y="5282614"/>
          <a:ext cx="3411188" cy="1463040"/>
        </p:xfrm>
        <a:graphic>
          <a:graphicData uri="http://schemas.openxmlformats.org/drawingml/2006/table">
            <a:tbl>
              <a:tblPr firstRow="1" bandRow="1"/>
              <a:tblGrid>
                <a:gridCol w="1705594">
                  <a:extLst>
                    <a:ext uri="{9D8B030D-6E8A-4147-A177-3AD203B41FA5}">
                      <a16:colId xmlns:a16="http://schemas.microsoft.com/office/drawing/2014/main" val="2121872837"/>
                    </a:ext>
                  </a:extLst>
                </a:gridCol>
                <a:gridCol w="1705594">
                  <a:extLst>
                    <a:ext uri="{9D8B030D-6E8A-4147-A177-3AD203B41FA5}">
                      <a16:colId xmlns:a16="http://schemas.microsoft.com/office/drawing/2014/main" val="4251132003"/>
                    </a:ext>
                  </a:extLst>
                </a:gridCol>
              </a:tblGrid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27225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not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071626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what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3512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27935"/>
                  </a:ext>
                </a:extLst>
              </a:tr>
            </a:tbl>
          </a:graphicData>
        </a:graphic>
      </p:graphicFrame>
      <p:sp>
        <p:nvSpPr>
          <p:cNvPr id="71" name="左大括号 70">
            <a:extLst>
              <a:ext uri="{FF2B5EF4-FFF2-40B4-BE49-F238E27FC236}">
                <a16:creationId xmlns:a16="http://schemas.microsoft.com/office/drawing/2014/main" id="{24FD7283-951A-F1B0-6C44-5EC2A67B1A18}"/>
              </a:ext>
            </a:extLst>
          </p:cNvPr>
          <p:cNvSpPr>
            <a:spLocks/>
          </p:cNvSpPr>
          <p:nvPr/>
        </p:nvSpPr>
        <p:spPr>
          <a:xfrm>
            <a:off x="3633890" y="5388817"/>
            <a:ext cx="288435" cy="10616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72A20B4-E5D5-A2A8-7F3A-A44F2B7319A6}"/>
              </a:ext>
            </a:extLst>
          </p:cNvPr>
          <p:cNvSpPr>
            <a:spLocks/>
          </p:cNvSpPr>
          <p:nvPr/>
        </p:nvSpPr>
        <p:spPr>
          <a:xfrm>
            <a:off x="4026761" y="5282614"/>
            <a:ext cx="3405986" cy="3541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10ACF72B-B6B2-10CA-B9AE-631730079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3565"/>
              </p:ext>
            </p:extLst>
          </p:nvPr>
        </p:nvGraphicFramePr>
        <p:xfrm>
          <a:off x="4024160" y="5282614"/>
          <a:ext cx="3411188" cy="1463040"/>
        </p:xfrm>
        <a:graphic>
          <a:graphicData uri="http://schemas.openxmlformats.org/drawingml/2006/table">
            <a:tbl>
              <a:tblPr firstRow="1" bandRow="1"/>
              <a:tblGrid>
                <a:gridCol w="1705594">
                  <a:extLst>
                    <a:ext uri="{9D8B030D-6E8A-4147-A177-3AD203B41FA5}">
                      <a16:colId xmlns:a16="http://schemas.microsoft.com/office/drawing/2014/main" val="2121872837"/>
                    </a:ext>
                  </a:extLst>
                </a:gridCol>
                <a:gridCol w="1705594">
                  <a:extLst>
                    <a:ext uri="{9D8B030D-6E8A-4147-A177-3AD203B41FA5}">
                      <a16:colId xmlns:a16="http://schemas.microsoft.com/office/drawing/2014/main" val="4251132003"/>
                    </a:ext>
                  </a:extLst>
                </a:gridCol>
              </a:tblGrid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joke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27225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story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071626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classic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3512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27935"/>
                  </a:ext>
                </a:extLst>
              </a:tr>
            </a:tbl>
          </a:graphicData>
        </a:graphic>
      </p:graphicFrame>
      <p:grpSp>
        <p:nvGrpSpPr>
          <p:cNvPr id="74" name="组合 73">
            <a:extLst>
              <a:ext uri="{FF2B5EF4-FFF2-40B4-BE49-F238E27FC236}">
                <a16:creationId xmlns:a16="http://schemas.microsoft.com/office/drawing/2014/main" id="{260E0DD8-370C-4672-ECEA-B9C75537121F}"/>
              </a:ext>
            </a:extLst>
          </p:cNvPr>
          <p:cNvGrpSpPr/>
          <p:nvPr/>
        </p:nvGrpSpPr>
        <p:grpSpPr>
          <a:xfrm>
            <a:off x="3009200" y="5636786"/>
            <a:ext cx="517398" cy="559993"/>
            <a:chOff x="4850453" y="2698094"/>
            <a:chExt cx="238558" cy="559993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34B4FCB8-0383-7D53-C4FE-FA9EF4A149D6}"/>
                </a:ext>
              </a:extLst>
            </p:cNvPr>
            <p:cNvSpPr/>
            <p:nvPr/>
          </p:nvSpPr>
          <p:spPr>
            <a:xfrm>
              <a:off x="4850453" y="2698094"/>
              <a:ext cx="238558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0877223-9EEB-9E28-95FA-AF76395B7FF0}"/>
                </a:ext>
              </a:extLst>
            </p:cNvPr>
            <p:cNvSpPr txBox="1"/>
            <p:nvPr/>
          </p:nvSpPr>
          <p:spPr>
            <a:xfrm>
              <a:off x="4887812" y="2778035"/>
              <a:ext cx="1577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9DDA03B-FDC8-6F99-0B67-798646BD8C99}"/>
              </a:ext>
            </a:extLst>
          </p:cNvPr>
          <p:cNvGrpSpPr/>
          <p:nvPr/>
        </p:nvGrpSpPr>
        <p:grpSpPr>
          <a:xfrm>
            <a:off x="3633886" y="5636152"/>
            <a:ext cx="788598" cy="559993"/>
            <a:chOff x="4850453" y="2698094"/>
            <a:chExt cx="363601" cy="559993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6CBC8BF1-E364-A64E-A26C-CAD942957D74}"/>
                </a:ext>
              </a:extLst>
            </p:cNvPr>
            <p:cNvSpPr/>
            <p:nvPr/>
          </p:nvSpPr>
          <p:spPr>
            <a:xfrm>
              <a:off x="4850453" y="2698094"/>
              <a:ext cx="339038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163CE845-DCE3-221A-4984-3CFD509AD517}"/>
                </a:ext>
              </a:extLst>
            </p:cNvPr>
            <p:cNvSpPr txBox="1"/>
            <p:nvPr/>
          </p:nvSpPr>
          <p:spPr>
            <a:xfrm>
              <a:off x="4887812" y="2778035"/>
              <a:ext cx="326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joke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0" name="左大括号 89">
            <a:extLst>
              <a:ext uri="{FF2B5EF4-FFF2-40B4-BE49-F238E27FC236}">
                <a16:creationId xmlns:a16="http://schemas.microsoft.com/office/drawing/2014/main" id="{33E184BC-1A3E-F315-75A1-1F2C2834929B}"/>
              </a:ext>
            </a:extLst>
          </p:cNvPr>
          <p:cNvSpPr>
            <a:spLocks/>
          </p:cNvSpPr>
          <p:nvPr/>
        </p:nvSpPr>
        <p:spPr>
          <a:xfrm>
            <a:off x="4450232" y="5389046"/>
            <a:ext cx="288435" cy="10616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C54D042-F7C7-827E-D8A4-826FAF9CC67A}"/>
              </a:ext>
            </a:extLst>
          </p:cNvPr>
          <p:cNvSpPr>
            <a:spLocks/>
          </p:cNvSpPr>
          <p:nvPr/>
        </p:nvSpPr>
        <p:spPr>
          <a:xfrm>
            <a:off x="4840502" y="5282614"/>
            <a:ext cx="3405986" cy="3541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68AA527D-6897-5B30-17C0-A791215BF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215"/>
              </p:ext>
            </p:extLst>
          </p:nvPr>
        </p:nvGraphicFramePr>
        <p:xfrm>
          <a:off x="4840502" y="5282843"/>
          <a:ext cx="3411188" cy="1463040"/>
        </p:xfrm>
        <a:graphic>
          <a:graphicData uri="http://schemas.openxmlformats.org/drawingml/2006/table">
            <a:tbl>
              <a:tblPr firstRow="1" bandRow="1"/>
              <a:tblGrid>
                <a:gridCol w="1705594">
                  <a:extLst>
                    <a:ext uri="{9D8B030D-6E8A-4147-A177-3AD203B41FA5}">
                      <a16:colId xmlns:a16="http://schemas.microsoft.com/office/drawing/2014/main" val="2121872837"/>
                    </a:ext>
                  </a:extLst>
                </a:gridCol>
                <a:gridCol w="1705594">
                  <a:extLst>
                    <a:ext uri="{9D8B030D-6E8A-4147-A177-3AD203B41FA5}">
                      <a16:colId xmlns:a16="http://schemas.microsoft.com/office/drawing/2014/main" val="4251132003"/>
                    </a:ext>
                  </a:extLst>
                </a:gridCol>
              </a:tblGrid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from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27225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made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071626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told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3512"/>
                  </a:ext>
                </a:extLst>
              </a:tr>
              <a:tr h="309356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27935"/>
                  </a:ext>
                </a:extLst>
              </a:tr>
            </a:tbl>
          </a:graphicData>
        </a:graphic>
      </p:graphicFrame>
      <p:grpSp>
        <p:nvGrpSpPr>
          <p:cNvPr id="93" name="组合 92">
            <a:extLst>
              <a:ext uri="{FF2B5EF4-FFF2-40B4-BE49-F238E27FC236}">
                <a16:creationId xmlns:a16="http://schemas.microsoft.com/office/drawing/2014/main" id="{7095C307-3830-F630-232C-DD71D2DEB547}"/>
              </a:ext>
            </a:extLst>
          </p:cNvPr>
          <p:cNvGrpSpPr/>
          <p:nvPr/>
        </p:nvGrpSpPr>
        <p:grpSpPr>
          <a:xfrm>
            <a:off x="4475078" y="5635835"/>
            <a:ext cx="816351" cy="559993"/>
            <a:chOff x="4850453" y="2698094"/>
            <a:chExt cx="376397" cy="559993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0BA32506-902B-FBEA-756B-CBF7D125090F}"/>
                </a:ext>
              </a:extLst>
            </p:cNvPr>
            <p:cNvSpPr/>
            <p:nvPr/>
          </p:nvSpPr>
          <p:spPr>
            <a:xfrm>
              <a:off x="4850453" y="2698094"/>
              <a:ext cx="376397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4DC816E7-9495-705D-6D54-734ABC75A8F5}"/>
                </a:ext>
              </a:extLst>
            </p:cNvPr>
            <p:cNvSpPr txBox="1"/>
            <p:nvPr/>
          </p:nvSpPr>
          <p:spPr>
            <a:xfrm>
              <a:off x="4887812" y="2778035"/>
              <a:ext cx="339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E1B7482-241F-0AA1-0227-4BD4C09EA684}"/>
              </a:ext>
            </a:extLst>
          </p:cNvPr>
          <p:cNvGrpSpPr/>
          <p:nvPr/>
        </p:nvGrpSpPr>
        <p:grpSpPr>
          <a:xfrm>
            <a:off x="5383415" y="5635677"/>
            <a:ext cx="2368111" cy="559993"/>
            <a:chOff x="4850453" y="2698094"/>
            <a:chExt cx="1091871" cy="559993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5A80916B-3377-8A36-570B-200724660D49}"/>
                </a:ext>
              </a:extLst>
            </p:cNvPr>
            <p:cNvSpPr/>
            <p:nvPr/>
          </p:nvSpPr>
          <p:spPr>
            <a:xfrm>
              <a:off x="4850453" y="2698094"/>
              <a:ext cx="982248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485D520A-579B-9D92-7916-DCEA819C959F}"/>
                </a:ext>
              </a:extLst>
            </p:cNvPr>
            <p:cNvSpPr txBox="1"/>
            <p:nvPr/>
          </p:nvSpPr>
          <p:spPr>
            <a:xfrm>
              <a:off x="4887812" y="2778035"/>
              <a:ext cx="1054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Douglas Adams’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0D78C523-201C-0068-98C1-4D67B5D346BD}"/>
              </a:ext>
            </a:extLst>
          </p:cNvPr>
          <p:cNvGrpSpPr/>
          <p:nvPr/>
        </p:nvGrpSpPr>
        <p:grpSpPr>
          <a:xfrm>
            <a:off x="7594796" y="5635677"/>
            <a:ext cx="4707099" cy="559993"/>
            <a:chOff x="4850453" y="2698094"/>
            <a:chExt cx="2170314" cy="559993"/>
          </a:xfrm>
        </p:grpSpPr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C683FC25-45FA-8DB8-849C-4A0876F14BD4}"/>
                </a:ext>
              </a:extLst>
            </p:cNvPr>
            <p:cNvSpPr/>
            <p:nvPr/>
          </p:nvSpPr>
          <p:spPr>
            <a:xfrm>
              <a:off x="4850453" y="2698094"/>
              <a:ext cx="2063996" cy="559993"/>
            </a:xfrm>
            <a:prstGeom prst="roundRect">
              <a:avLst/>
            </a:prstGeom>
            <a:solidFill>
              <a:srgbClr val="0FD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F0E045D-DC40-F28B-BAB6-170AE3F9DEB8}"/>
                </a:ext>
              </a:extLst>
            </p:cNvPr>
            <p:cNvSpPr txBox="1"/>
            <p:nvPr/>
          </p:nvSpPr>
          <p:spPr>
            <a:xfrm>
              <a:off x="4887812" y="2778035"/>
              <a:ext cx="21329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altLang="zh-CN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HitchHiker’s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 Guide to the Galaxy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2DBCD07-7728-8EF9-78A5-899BCEDBFB50}"/>
              </a:ext>
            </a:extLst>
          </p:cNvPr>
          <p:cNvSpPr txBox="1"/>
          <p:nvPr/>
        </p:nvSpPr>
        <p:spPr>
          <a:xfrm>
            <a:off x="8638726" y="3869532"/>
            <a:ext cx="1485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F6A5E36-0AB5-7919-E2DB-6B9BB91CB0E5}"/>
              </a:ext>
            </a:extLst>
          </p:cNvPr>
          <p:cNvSpPr txBox="1"/>
          <p:nvPr/>
        </p:nvSpPr>
        <p:spPr>
          <a:xfrm>
            <a:off x="7751526" y="4286026"/>
            <a:ext cx="398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Next-token-prediction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3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5" grpId="0" animBg="1"/>
      <p:bldP spid="55" grpId="1" animBg="1"/>
      <p:bldP spid="64" grpId="0" animBg="1"/>
      <p:bldP spid="64" grpId="1" animBg="1"/>
      <p:bldP spid="68" grpId="0" animBg="1"/>
      <p:bldP spid="68" grpId="1" animBg="1"/>
      <p:bldP spid="70" grpId="0" animBg="1"/>
      <p:bldP spid="70" grpId="1" animBg="1"/>
      <p:bldP spid="71" grpId="0" animBg="1"/>
      <p:bldP spid="71" grpId="1" animBg="1"/>
      <p:bldP spid="73" grpId="0" animBg="1"/>
      <p:bldP spid="73" grpId="1" animBg="1"/>
      <p:bldP spid="90" grpId="0" animBg="1"/>
      <p:bldP spid="90" grpId="1" animBg="1"/>
      <p:bldP spid="92" grpId="0" animBg="1"/>
      <p:bldP spid="92" grpId="1" animBg="1"/>
      <p:bldP spid="102" grpId="0"/>
      <p:bldP spid="1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6781-E738-21BF-FF06-99CE1E41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EDBB44-8FAD-F273-3F9C-143846C767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24D6151-EAE0-474F-8896-0594C0C5D0F7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AE147A1-7609-392E-C15B-1E63EFF15AE3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How do we understand LLM?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694AF5-89D4-7A34-52F5-A5025A8AE38B}"/>
              </a:ext>
            </a:extLst>
          </p:cNvPr>
          <p:cNvSpPr txBox="1"/>
          <p:nvPr/>
        </p:nvSpPr>
        <p:spPr>
          <a:xfrm>
            <a:off x="152400" y="1584435"/>
            <a:ext cx="4301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Natrual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Language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5F6648-42C0-12A5-B579-EB5F38C07613}"/>
              </a:ext>
            </a:extLst>
          </p:cNvPr>
          <p:cNvSpPr txBox="1"/>
          <p:nvPr/>
        </p:nvSpPr>
        <p:spPr>
          <a:xfrm>
            <a:off x="3018338" y="2740194"/>
            <a:ext cx="5604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Human Intelligence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57ECB7-BA10-854D-158A-DCDA8912B968}"/>
              </a:ext>
            </a:extLst>
          </p:cNvPr>
          <p:cNvSpPr txBox="1"/>
          <p:nvPr/>
        </p:nvSpPr>
        <p:spPr>
          <a:xfrm>
            <a:off x="4454376" y="4632349"/>
            <a:ext cx="2639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Reasoning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68C63E-DC82-E4F7-EE5D-2A0F4D871B61}"/>
              </a:ext>
            </a:extLst>
          </p:cNvPr>
          <p:cNvSpPr txBox="1"/>
          <p:nvPr/>
        </p:nvSpPr>
        <p:spPr>
          <a:xfrm>
            <a:off x="1602757" y="5433125"/>
            <a:ext cx="195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9DF3B9-BFFE-BEA6-10A5-36CB9B3C2143}"/>
              </a:ext>
            </a:extLst>
          </p:cNvPr>
          <p:cNvSpPr txBox="1"/>
          <p:nvPr/>
        </p:nvSpPr>
        <p:spPr>
          <a:xfrm>
            <a:off x="1432970" y="4632350"/>
            <a:ext cx="1953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C97D80-3F07-442F-A6F9-F70F8DFCD147}"/>
              </a:ext>
            </a:extLst>
          </p:cNvPr>
          <p:cNvSpPr txBox="1"/>
          <p:nvPr/>
        </p:nvSpPr>
        <p:spPr>
          <a:xfrm>
            <a:off x="8597687" y="5433124"/>
            <a:ext cx="1393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28B83C-D52D-2A0F-9A7F-F6A28069CFAB}"/>
              </a:ext>
            </a:extLst>
          </p:cNvPr>
          <p:cNvSpPr txBox="1"/>
          <p:nvPr/>
        </p:nvSpPr>
        <p:spPr>
          <a:xfrm>
            <a:off x="8488372" y="4632349"/>
            <a:ext cx="139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 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4A6A46-82F4-C005-64F1-2D9D5E66DC79}"/>
              </a:ext>
            </a:extLst>
          </p:cNvPr>
          <p:cNvSpPr txBox="1"/>
          <p:nvPr/>
        </p:nvSpPr>
        <p:spPr>
          <a:xfrm>
            <a:off x="5244248" y="5433124"/>
            <a:ext cx="115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694073-F7A1-5300-3391-9FE627CC1B88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303388" y="2230766"/>
            <a:ext cx="3516962" cy="509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CC082E8-721A-BAEB-DEC0-DBD0D07E79BA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409762" y="3571192"/>
            <a:ext cx="3457127" cy="1061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27D2B55-D685-D031-E174-6E68F7ACD317}"/>
              </a:ext>
            </a:extLst>
          </p:cNvPr>
          <p:cNvCxnSpPr>
            <a:endCxn id="7" idx="0"/>
          </p:cNvCxnSpPr>
          <p:nvPr/>
        </p:nvCxnSpPr>
        <p:spPr>
          <a:xfrm flipH="1">
            <a:off x="5774324" y="3571192"/>
            <a:ext cx="46027" cy="106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9A67C3-0FB6-817A-7E75-5559FB1F0D41}"/>
              </a:ext>
            </a:extLst>
          </p:cNvPr>
          <p:cNvCxnSpPr/>
          <p:nvPr/>
        </p:nvCxnSpPr>
        <p:spPr>
          <a:xfrm>
            <a:off x="5820351" y="3571192"/>
            <a:ext cx="3348197" cy="10611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28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5957-8743-9777-70BB-1BCA5D30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2F13F2-4108-A980-3953-68B8D8872B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4D98960-A311-2B05-62FF-0127FF7A8FE8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6384C1C-61C1-4FE1-37F8-44BBD26E5D9E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Differences between LLM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4D1593-C6EF-2BE5-CAC0-5398E63321F9}"/>
              </a:ext>
            </a:extLst>
          </p:cNvPr>
          <p:cNvSpPr txBox="1"/>
          <p:nvPr/>
        </p:nvSpPr>
        <p:spPr>
          <a:xfrm>
            <a:off x="612667" y="1669240"/>
            <a:ext cx="838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of parameters and number of training text matters.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9FD850-C468-8927-99B5-422FDC5A32E8}"/>
              </a:ext>
            </a:extLst>
          </p:cNvPr>
          <p:cNvSpPr txBox="1"/>
          <p:nvPr/>
        </p:nvSpPr>
        <p:spPr>
          <a:xfrm>
            <a:off x="2722743" y="3063432"/>
            <a:ext cx="6658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“Oh great, another meeting added to my calendar.”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33AA89-AACB-D861-BEA2-3E93514B7221}"/>
              </a:ext>
            </a:extLst>
          </p:cNvPr>
          <p:cNvSpPr txBox="1"/>
          <p:nvPr/>
        </p:nvSpPr>
        <p:spPr>
          <a:xfrm>
            <a:off x="1467743" y="4496263"/>
            <a:ext cx="4264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Chat-GPT 5.5  - 9.7Trillons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989F710-0095-CF08-BBF2-634E19017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49"/>
          <a:stretch>
            <a:fillRect/>
          </a:stretch>
        </p:blipFill>
        <p:spPr>
          <a:xfrm>
            <a:off x="2722743" y="5011122"/>
            <a:ext cx="1087891" cy="10972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6C0794E-ADE6-804C-507C-3B17EC08C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7"/>
          <a:stretch>
            <a:fillRect/>
          </a:stretch>
        </p:blipFill>
        <p:spPr>
          <a:xfrm>
            <a:off x="7694665" y="4957928"/>
            <a:ext cx="987409" cy="109728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98CD62D-28C3-F948-2840-29F90974C7FC}"/>
              </a:ext>
            </a:extLst>
          </p:cNvPr>
          <p:cNvSpPr txBox="1"/>
          <p:nvPr/>
        </p:nvSpPr>
        <p:spPr>
          <a:xfrm>
            <a:off x="6664685" y="4496262"/>
            <a:ext cx="3792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Qwen3.5  -  4Billion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31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A6DF-1B57-4D8D-8431-348908FF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2CFB00-2FF1-4F7C-5BD2-39DDD1EC8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AD5DD4D-3B28-DF86-7468-0097AE569BD8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50BC8CC-B614-528B-883F-9EDE8E2231C7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Goal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2EB260-7AA9-21AC-6F19-B2E4FC884232}"/>
              </a:ext>
            </a:extLst>
          </p:cNvPr>
          <p:cNvSpPr txBox="1"/>
          <p:nvPr/>
        </p:nvSpPr>
        <p:spPr>
          <a:xfrm>
            <a:off x="1589460" y="2030608"/>
            <a:ext cx="80577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Investigate the feasibility of modeling </a:t>
            </a:r>
            <a:r>
              <a:rPr lang="en-US" altLang="zh-CN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</a:t>
            </a:r>
            <a:r>
              <a:rPr lang="en-US" altLang="zh-CN"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r>
              <a:rPr lang="en-US" altLang="zh-CN"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40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personality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for dialogue-based generation in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low-resource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scenarios.</a:t>
            </a:r>
          </a:p>
        </p:txBody>
      </p:sp>
    </p:spTree>
    <p:extLst>
      <p:ext uri="{BB962C8B-B14F-4D97-AF65-F5344CB8AC3E}">
        <p14:creationId xmlns:p14="http://schemas.microsoft.com/office/powerpoint/2010/main" val="165629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AC41-BB3B-8533-3E0B-B9A3EB3F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83D0C7-33B1-07EE-4F23-B66D16D4D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CFC6873-09A4-D768-28CD-6AC8331B1011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5D4A89B-D68F-BF06-E906-F8CABFE8F479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Overall Road Map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82481B-F4C8-131D-7238-1DDF42EF5F3E}"/>
              </a:ext>
            </a:extLst>
          </p:cNvPr>
          <p:cNvGrpSpPr/>
          <p:nvPr/>
        </p:nvGrpSpPr>
        <p:grpSpPr>
          <a:xfrm>
            <a:off x="299538" y="2183973"/>
            <a:ext cx="2198184" cy="1160646"/>
            <a:chOff x="1186825" y="2698094"/>
            <a:chExt cx="1387391" cy="55999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377574C-B89E-7E5B-1783-EC5AFBB8929C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85B6788-A135-98A5-4600-315E96B1FB33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梯形 13">
            <a:extLst>
              <a:ext uri="{FF2B5EF4-FFF2-40B4-BE49-F238E27FC236}">
                <a16:creationId xmlns:a16="http://schemas.microsoft.com/office/drawing/2014/main" id="{7CF9570F-3A98-C238-E58A-E2A7921180CF}"/>
              </a:ext>
            </a:extLst>
          </p:cNvPr>
          <p:cNvSpPr/>
          <p:nvPr/>
        </p:nvSpPr>
        <p:spPr>
          <a:xfrm rot="5400000">
            <a:off x="2723041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759D543-C276-53C5-ACA2-FA754D1E563E}"/>
              </a:ext>
            </a:extLst>
          </p:cNvPr>
          <p:cNvGrpSpPr/>
          <p:nvPr/>
        </p:nvGrpSpPr>
        <p:grpSpPr>
          <a:xfrm>
            <a:off x="4529041" y="2224826"/>
            <a:ext cx="1698901" cy="1160646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4CDE750-FD22-9492-4272-D6624C9BC9F7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2D5DC7B-1DCF-384D-1607-AEF54849E195}"/>
                </a:ext>
              </a:extLst>
            </p:cNvPr>
            <p:cNvSpPr txBox="1"/>
            <p:nvPr/>
          </p:nvSpPr>
          <p:spPr>
            <a:xfrm>
              <a:off x="1536809" y="2851868"/>
              <a:ext cx="101029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梯形 17">
            <a:extLst>
              <a:ext uri="{FF2B5EF4-FFF2-40B4-BE49-F238E27FC236}">
                <a16:creationId xmlns:a16="http://schemas.microsoft.com/office/drawing/2014/main" id="{3A024959-B337-65B2-AF7F-6EFCC2D44636}"/>
              </a:ext>
            </a:extLst>
          </p:cNvPr>
          <p:cNvSpPr/>
          <p:nvPr/>
        </p:nvSpPr>
        <p:spPr>
          <a:xfrm rot="16200000">
            <a:off x="6498572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A9911CC-7792-458D-280E-28640305FD13}"/>
              </a:ext>
            </a:extLst>
          </p:cNvPr>
          <p:cNvGrpSpPr/>
          <p:nvPr/>
        </p:nvGrpSpPr>
        <p:grpSpPr>
          <a:xfrm>
            <a:off x="8304572" y="2183973"/>
            <a:ext cx="3241313" cy="1160646"/>
            <a:chOff x="1501949" y="2698094"/>
            <a:chExt cx="1348419" cy="5599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5B2572C4-F3AA-6214-74B8-860AD34031D6}"/>
                </a:ext>
              </a:extLst>
            </p:cNvPr>
            <p:cNvSpPr/>
            <p:nvPr/>
          </p:nvSpPr>
          <p:spPr>
            <a:xfrm>
              <a:off x="1501949" y="2698094"/>
              <a:ext cx="1348419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D68342B-181C-120D-AD73-EEEBE4E6BFED}"/>
                </a:ext>
              </a:extLst>
            </p:cNvPr>
            <p:cNvSpPr txBox="1"/>
            <p:nvPr/>
          </p:nvSpPr>
          <p:spPr>
            <a:xfrm>
              <a:off x="1536809" y="2851868"/>
              <a:ext cx="123952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Emotional State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34AEB00-C124-6930-7066-F940A4108224}"/>
              </a:ext>
            </a:extLst>
          </p:cNvPr>
          <p:cNvCxnSpPr/>
          <p:nvPr/>
        </p:nvCxnSpPr>
        <p:spPr>
          <a:xfrm>
            <a:off x="9925228" y="3572834"/>
            <a:ext cx="0" cy="8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DB45730-19EE-065B-C4DF-0CA6FD0601AB}"/>
              </a:ext>
            </a:extLst>
          </p:cNvPr>
          <p:cNvGrpSpPr/>
          <p:nvPr/>
        </p:nvGrpSpPr>
        <p:grpSpPr>
          <a:xfrm>
            <a:off x="8826136" y="4581971"/>
            <a:ext cx="2198184" cy="1160646"/>
            <a:chOff x="1186825" y="2698094"/>
            <a:chExt cx="1387391" cy="55999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EB60EC0-3124-5C86-2901-962C4D0990F9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C9A077E-3EBB-8C89-B5FD-5A92C4A97C1B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AE89BA6-1BE3-AB9C-09BD-ADA95B504063}"/>
              </a:ext>
            </a:extLst>
          </p:cNvPr>
          <p:cNvSpPr txBox="1"/>
          <p:nvPr/>
        </p:nvSpPr>
        <p:spPr>
          <a:xfrm>
            <a:off x="3100317" y="2424080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4A3A329-63F5-20EC-8794-530EFC5C6949}"/>
              </a:ext>
            </a:extLst>
          </p:cNvPr>
          <p:cNvSpPr txBox="1"/>
          <p:nvPr/>
        </p:nvSpPr>
        <p:spPr>
          <a:xfrm>
            <a:off x="7026918" y="2451205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AA09BDD-5301-CA33-08BB-F77B7E019D67}"/>
              </a:ext>
            </a:extLst>
          </p:cNvPr>
          <p:cNvCxnSpPr>
            <a:cxnSpLocks/>
          </p:cNvCxnSpPr>
          <p:nvPr/>
        </p:nvCxnSpPr>
        <p:spPr>
          <a:xfrm flipH="1">
            <a:off x="6370115" y="5162294"/>
            <a:ext cx="2203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639B6FB-C758-53A0-6248-04D4BF6DE0E6}"/>
              </a:ext>
            </a:extLst>
          </p:cNvPr>
          <p:cNvSpPr/>
          <p:nvPr/>
        </p:nvSpPr>
        <p:spPr>
          <a:xfrm>
            <a:off x="7045889" y="4377584"/>
            <a:ext cx="1005891" cy="7419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LLM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C57D765-0A70-6065-A435-A4454098ABED}"/>
              </a:ext>
            </a:extLst>
          </p:cNvPr>
          <p:cNvGrpSpPr/>
          <p:nvPr/>
        </p:nvGrpSpPr>
        <p:grpSpPr>
          <a:xfrm>
            <a:off x="3453196" y="4581971"/>
            <a:ext cx="2873958" cy="1160646"/>
            <a:chOff x="760308" y="2698094"/>
            <a:chExt cx="1813908" cy="559993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A943233-6D20-AE0C-48C1-C660736A335F}"/>
                </a:ext>
              </a:extLst>
            </p:cNvPr>
            <p:cNvSpPr/>
            <p:nvPr/>
          </p:nvSpPr>
          <p:spPr>
            <a:xfrm>
              <a:off x="787423" y="2698094"/>
              <a:ext cx="1786793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663F516-46A4-3AE0-E807-91BAAC0A0664}"/>
                </a:ext>
              </a:extLst>
            </p:cNvPr>
            <p:cNvSpPr txBox="1"/>
            <p:nvPr/>
          </p:nvSpPr>
          <p:spPr>
            <a:xfrm>
              <a:off x="760308" y="2851868"/>
              <a:ext cx="1786793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New 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3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8" grpId="0"/>
      <p:bldP spid="29" grpId="0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C95F-E97E-7CDF-8CAD-00BF0458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E13428-B6DD-9049-DDDE-69EF911EA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D59CA2D-180E-7CBF-CB48-AD72917D235F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9D31669-0664-B738-6761-5FDEF76946D8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Text-to-Emotion – VAD Model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A51B0C-5BFF-6626-5DA5-3CD5FEAFB5BC}"/>
              </a:ext>
            </a:extLst>
          </p:cNvPr>
          <p:cNvSpPr txBox="1"/>
          <p:nvPr/>
        </p:nvSpPr>
        <p:spPr>
          <a:xfrm>
            <a:off x="650512" y="1638603"/>
            <a:ext cx="6811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Albert Mehrabian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James A. Russell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3CC813-AA7F-50EC-CDAA-EE55B157F3DF}"/>
              </a:ext>
            </a:extLst>
          </p:cNvPr>
          <p:cNvSpPr txBox="1"/>
          <p:nvPr/>
        </p:nvSpPr>
        <p:spPr>
          <a:xfrm>
            <a:off x="650512" y="2555530"/>
            <a:ext cx="7646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 metric that projects any emotion into a 3D vector space 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927A4B-5375-1075-B5E3-4E277DFC2F33}"/>
              </a:ext>
            </a:extLst>
          </p:cNvPr>
          <p:cNvSpPr txBox="1"/>
          <p:nvPr/>
        </p:nvSpPr>
        <p:spPr>
          <a:xfrm>
            <a:off x="349802" y="3803625"/>
            <a:ext cx="98497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cs typeface="Arial" panose="020B0604020202020204" pitchFamily="34" charset="0"/>
              </a:rPr>
              <a:t>- </a:t>
            </a:r>
            <a:r>
              <a:rPr lang="en-US" altLang="zh-CN" sz="2000" b="1" dirty="0">
                <a:cs typeface="Arial" panose="020B0604020202020204" pitchFamily="34" charset="0"/>
              </a:rPr>
              <a:t>Valence</a:t>
            </a:r>
            <a:r>
              <a:rPr lang="en-US" altLang="zh-CN" sz="2000" dirty="0">
                <a:cs typeface="Arial" panose="020B0604020202020204" pitchFamily="34" charset="0"/>
              </a:rPr>
              <a:t> (Pleasure): The pleasantness of the emotion (ranging from unhappy/negative to extreme happiness/positive).</a:t>
            </a:r>
          </a:p>
          <a:p>
            <a:r>
              <a:rPr lang="en-US" altLang="zh-CN" sz="2000" dirty="0">
                <a:cs typeface="Arial" panose="020B0604020202020204" pitchFamily="34" charset="0"/>
              </a:rPr>
              <a:t>- </a:t>
            </a:r>
            <a:r>
              <a:rPr lang="en-US" altLang="zh-CN" sz="2000" b="1" dirty="0">
                <a:cs typeface="Arial" panose="020B0604020202020204" pitchFamily="34" charset="0"/>
              </a:rPr>
              <a:t>Arousal</a:t>
            </a:r>
            <a:r>
              <a:rPr lang="en-US" altLang="zh-CN" sz="2000" dirty="0">
                <a:cs typeface="Arial" panose="020B0604020202020204" pitchFamily="34" charset="0"/>
              </a:rPr>
              <a:t>: The intensity of the emotion (ranging from calm/sleep to excited/high-energy).</a:t>
            </a:r>
          </a:p>
          <a:p>
            <a:r>
              <a:rPr lang="en-US" altLang="zh-CN" sz="2000" dirty="0">
                <a:cs typeface="Arial" panose="020B0604020202020204" pitchFamily="34" charset="0"/>
              </a:rPr>
              <a:t>- </a:t>
            </a:r>
            <a:r>
              <a:rPr lang="en-US" altLang="zh-CN" sz="2000" b="1" dirty="0">
                <a:cs typeface="Arial" panose="020B0604020202020204" pitchFamily="34" charset="0"/>
              </a:rPr>
              <a:t>Dominance</a:t>
            </a:r>
            <a:r>
              <a:rPr lang="en-US" altLang="zh-CN" sz="2000" dirty="0">
                <a:cs typeface="Arial" panose="020B0604020202020204" pitchFamily="34" charset="0"/>
              </a:rPr>
              <a:t> (Control): The degree of control or power the person feels over the situation (ranging from feeling submissive/powerless to feeling in control).</a:t>
            </a:r>
            <a:endParaRPr lang="zh-CN" altLang="en-US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31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BAD4-ED7F-4063-B5A9-0F2E4FF6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524B95-A963-68B5-8F62-112EA1AFB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C8775B8-6CFB-8F7F-EDE9-CE7280086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5" y="347985"/>
            <a:ext cx="6069767" cy="606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F4A91-AD32-4BCD-AAA0-4F1E21B0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25FB6D-5C70-03A5-71F7-78822CBE0F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9410EDF-61AC-DC06-1681-76B3B789B18C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2F4910C-A0A2-719B-B92C-2920C382331A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Text-to-Emotion – VAD Model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4E8F4E-95EF-FD6D-2BE5-B8FCC2FEB832}"/>
              </a:ext>
            </a:extLst>
          </p:cNvPr>
          <p:cNvSpPr txBox="1"/>
          <p:nvPr/>
        </p:nvSpPr>
        <p:spPr>
          <a:xfrm>
            <a:off x="1294888" y="2751989"/>
            <a:ext cx="5087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And don't pretend you did it out of kindness...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303940-0D39-B7C1-7851-3C2FC72DC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80" y="3756609"/>
            <a:ext cx="6712295" cy="13208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7E34E8B-48BA-48C4-4058-50F4D3AAC73A}"/>
              </a:ext>
            </a:extLst>
          </p:cNvPr>
          <p:cNvSpPr txBox="1"/>
          <p:nvPr/>
        </p:nvSpPr>
        <p:spPr>
          <a:xfrm>
            <a:off x="3485767" y="2751988"/>
            <a:ext cx="3970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You did it! I knew you would...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9E34882-92BB-629C-319D-E5A157D09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09" y="3832813"/>
            <a:ext cx="6763098" cy="124466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1F1AD13-5F63-A3A8-8747-250F5D95E137}"/>
              </a:ext>
            </a:extLst>
          </p:cNvPr>
          <p:cNvSpPr txBox="1"/>
          <p:nvPr/>
        </p:nvSpPr>
        <p:spPr>
          <a:xfrm>
            <a:off x="4700875" y="2745892"/>
            <a:ext cx="3970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Alright, I'm watching. Nice aim! You did it.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8ED2481-957C-B32D-9E9C-ED8FC62ED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62" y="3776203"/>
            <a:ext cx="6788499" cy="12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0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718D-D44C-6A58-D703-F6ECC9B3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F51F74-98BE-BBD8-6385-7608FD422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4E35AB9-1EF8-5980-9774-FB04BAC13F45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1981B51-A9B4-32FC-3055-675C82D5385E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Text-to-Emotion – Training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69E55BE-2DA6-EB27-996D-D6C9DA8740FD}"/>
              </a:ext>
            </a:extLst>
          </p:cNvPr>
          <p:cNvGrpSpPr/>
          <p:nvPr/>
        </p:nvGrpSpPr>
        <p:grpSpPr>
          <a:xfrm>
            <a:off x="3458733" y="5040494"/>
            <a:ext cx="2755474" cy="1817506"/>
            <a:chOff x="862235" y="4756107"/>
            <a:chExt cx="2755474" cy="181750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5EEF190-9786-FBE4-4DD3-3F79FFB7DA1C}"/>
                </a:ext>
              </a:extLst>
            </p:cNvPr>
            <p:cNvSpPr/>
            <p:nvPr/>
          </p:nvSpPr>
          <p:spPr>
            <a:xfrm>
              <a:off x="862235" y="4756107"/>
              <a:ext cx="2755474" cy="1583319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7E97A92-66B3-4252-73EA-F5E98CFDAB83}"/>
                </a:ext>
              </a:extLst>
            </p:cNvPr>
            <p:cNvSpPr txBox="1"/>
            <p:nvPr/>
          </p:nvSpPr>
          <p:spPr>
            <a:xfrm>
              <a:off x="932810" y="4819287"/>
              <a:ext cx="261432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</a:t>
              </a:r>
              <a:r>
                <a:rPr lang="en-US" altLang="zh-CN" dirty="0" err="1"/>
                <a:t>DailyDialogue</a:t>
              </a:r>
              <a:endParaRPr lang="en-US" altLang="zh-CN" dirty="0"/>
            </a:p>
            <a:p>
              <a:r>
                <a:rPr lang="en-US" altLang="zh-CN" dirty="0"/>
                <a:t>-</a:t>
              </a:r>
              <a:r>
                <a:rPr lang="en-US" altLang="zh-CN" dirty="0" err="1"/>
                <a:t>EmpatheticDialogue</a:t>
              </a:r>
              <a:endParaRPr lang="en-US" altLang="zh-CN" dirty="0"/>
            </a:p>
            <a:p>
              <a:r>
                <a:rPr lang="en-US" altLang="zh-CN" dirty="0"/>
                <a:t>-</a:t>
              </a:r>
              <a:r>
                <a:rPr lang="en-US" altLang="zh-CN" dirty="0" err="1"/>
                <a:t>EmoBank</a:t>
              </a:r>
              <a:endParaRPr lang="en-US" altLang="zh-CN" dirty="0"/>
            </a:p>
            <a:p>
              <a:r>
                <a:rPr lang="en-US" altLang="zh-CN" dirty="0"/>
                <a:t>-</a:t>
              </a:r>
              <a:r>
                <a:rPr lang="en-US" altLang="zh-CN" dirty="0" err="1"/>
                <a:t>EmoDynamic</a:t>
              </a:r>
              <a:r>
                <a:rPr lang="en-US" altLang="zh-CN" dirty="0"/>
                <a:t> (custom AI generated)</a:t>
              </a:r>
            </a:p>
            <a:p>
              <a:endParaRPr lang="zh-CN" altLang="en-US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2518D67-05A9-4C02-12EA-DD880AD81B62}"/>
              </a:ext>
            </a:extLst>
          </p:cNvPr>
          <p:cNvGrpSpPr/>
          <p:nvPr/>
        </p:nvGrpSpPr>
        <p:grpSpPr>
          <a:xfrm>
            <a:off x="1260549" y="2728029"/>
            <a:ext cx="2198184" cy="1160646"/>
            <a:chOff x="1186825" y="2698094"/>
            <a:chExt cx="1387391" cy="55999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11BD3A3-0158-189A-F13D-B8BDA354DE27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48F0A6-4E29-E950-28A4-05047F73122C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3D2F2F8-271D-E68F-E98F-7CFAD6D6DF41}"/>
              </a:ext>
            </a:extLst>
          </p:cNvPr>
          <p:cNvSpPr txBox="1"/>
          <p:nvPr/>
        </p:nvSpPr>
        <p:spPr>
          <a:xfrm>
            <a:off x="3529308" y="4575474"/>
            <a:ext cx="1439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CCAF75EC-07B7-B538-81A8-E57D122491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54806" y="3983689"/>
            <a:ext cx="665089" cy="6014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梯形 15">
            <a:extLst>
              <a:ext uri="{FF2B5EF4-FFF2-40B4-BE49-F238E27FC236}">
                <a16:creationId xmlns:a16="http://schemas.microsoft.com/office/drawing/2014/main" id="{9B96ABA2-2E07-8FFB-894B-1D6E390D85AB}"/>
              </a:ext>
            </a:extLst>
          </p:cNvPr>
          <p:cNvSpPr/>
          <p:nvPr/>
        </p:nvSpPr>
        <p:spPr>
          <a:xfrm rot="5400000">
            <a:off x="3955204" y="2419522"/>
            <a:ext cx="1702029" cy="1777660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814525E-ADCD-AA4D-B936-1B51D578E063}"/>
              </a:ext>
            </a:extLst>
          </p:cNvPr>
          <p:cNvGrpSpPr/>
          <p:nvPr/>
        </p:nvGrpSpPr>
        <p:grpSpPr>
          <a:xfrm>
            <a:off x="6124212" y="2705395"/>
            <a:ext cx="1698901" cy="1160647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F89D677-FCDF-D7C4-B6DF-204035963E3F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06D0528-AFDF-CCFF-FE77-4841509462BD}"/>
                </a:ext>
              </a:extLst>
            </p:cNvPr>
            <p:cNvSpPr txBox="1"/>
            <p:nvPr/>
          </p:nvSpPr>
          <p:spPr>
            <a:xfrm>
              <a:off x="1532936" y="2812128"/>
              <a:ext cx="1010292" cy="4009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predicted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A7D160B0-885C-F6F6-EF63-44CDFFB766A8}"/>
              </a:ext>
            </a:extLst>
          </p:cNvPr>
          <p:cNvSpPr txBox="1"/>
          <p:nvPr/>
        </p:nvSpPr>
        <p:spPr>
          <a:xfrm>
            <a:off x="4517611" y="2892854"/>
            <a:ext cx="559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F9093B7-B215-099C-D5E6-DB6FC9C71574}"/>
              </a:ext>
            </a:extLst>
          </p:cNvPr>
          <p:cNvSpPr txBox="1"/>
          <p:nvPr/>
        </p:nvSpPr>
        <p:spPr>
          <a:xfrm>
            <a:off x="3949543" y="3030493"/>
            <a:ext cx="1777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V3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BAFE083-9804-E7A0-D6FE-C9CF0FE9A13C}"/>
              </a:ext>
            </a:extLst>
          </p:cNvPr>
          <p:cNvGrpSpPr/>
          <p:nvPr/>
        </p:nvGrpSpPr>
        <p:grpSpPr>
          <a:xfrm>
            <a:off x="8932264" y="2705395"/>
            <a:ext cx="1698901" cy="1160647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C577AC7-164C-1A18-38AA-C88B3D1E2504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AF4574-5EE0-1EDC-4C0F-26F388E7935E}"/>
                </a:ext>
              </a:extLst>
            </p:cNvPr>
            <p:cNvSpPr txBox="1"/>
            <p:nvPr/>
          </p:nvSpPr>
          <p:spPr>
            <a:xfrm>
              <a:off x="1532936" y="2812128"/>
              <a:ext cx="1010292" cy="4009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real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03B7E2DC-5CE8-FF57-3B39-0C4484599396}"/>
              </a:ext>
            </a:extLst>
          </p:cNvPr>
          <p:cNvCxnSpPr>
            <a:cxnSpLocks/>
          </p:cNvCxnSpPr>
          <p:nvPr/>
        </p:nvCxnSpPr>
        <p:spPr>
          <a:xfrm flipV="1">
            <a:off x="6466485" y="4009087"/>
            <a:ext cx="3059855" cy="16382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箭头: 左右 33">
            <a:extLst>
              <a:ext uri="{FF2B5EF4-FFF2-40B4-BE49-F238E27FC236}">
                <a16:creationId xmlns:a16="http://schemas.microsoft.com/office/drawing/2014/main" id="{A3822257-3CEC-3363-8A37-FA86B3ECAC04}"/>
              </a:ext>
            </a:extLst>
          </p:cNvPr>
          <p:cNvSpPr/>
          <p:nvPr/>
        </p:nvSpPr>
        <p:spPr>
          <a:xfrm>
            <a:off x="7941165" y="3191366"/>
            <a:ext cx="909869" cy="18870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4863D2F-AADC-AE06-D357-49C56DD596A6}"/>
              </a:ext>
            </a:extLst>
          </p:cNvPr>
          <p:cNvSpPr txBox="1"/>
          <p:nvPr/>
        </p:nvSpPr>
        <p:spPr>
          <a:xfrm>
            <a:off x="7904343" y="3336431"/>
            <a:ext cx="1313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compare</a:t>
            </a:r>
            <a:endParaRPr lang="zh-CN" altLang="en-US" sz="1600" dirty="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6716171-066A-48FA-0330-74E9D764B9EA}"/>
              </a:ext>
            </a:extLst>
          </p:cNvPr>
          <p:cNvCxnSpPr>
            <a:cxnSpLocks/>
          </p:cNvCxnSpPr>
          <p:nvPr/>
        </p:nvCxnSpPr>
        <p:spPr>
          <a:xfrm flipV="1">
            <a:off x="8297106" y="1736746"/>
            <a:ext cx="0" cy="9912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4917DD1-DFAD-D27B-B318-F29E040F7296}"/>
              </a:ext>
            </a:extLst>
          </p:cNvPr>
          <p:cNvCxnSpPr>
            <a:cxnSpLocks/>
          </p:cNvCxnSpPr>
          <p:nvPr/>
        </p:nvCxnSpPr>
        <p:spPr>
          <a:xfrm flipV="1">
            <a:off x="4860436" y="1727553"/>
            <a:ext cx="3436670" cy="11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4B2159D-9F14-012A-A123-D2EB97694BF6}"/>
              </a:ext>
            </a:extLst>
          </p:cNvPr>
          <p:cNvCxnSpPr>
            <a:cxnSpLocks/>
          </p:cNvCxnSpPr>
          <p:nvPr/>
        </p:nvCxnSpPr>
        <p:spPr>
          <a:xfrm>
            <a:off x="4860436" y="1736746"/>
            <a:ext cx="0" cy="720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A97CF5D-0A01-48C7-C270-413F9EBDF02D}"/>
              </a:ext>
            </a:extLst>
          </p:cNvPr>
          <p:cNvSpPr txBox="1"/>
          <p:nvPr/>
        </p:nvSpPr>
        <p:spPr>
          <a:xfrm>
            <a:off x="6267834" y="1759616"/>
            <a:ext cx="621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train</a:t>
            </a:r>
            <a:endParaRPr lang="zh-CN" altLang="en-US" sz="1600" dirty="0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0729F7D-86D1-9439-7544-A97A3F6AAAD9}"/>
              </a:ext>
            </a:extLst>
          </p:cNvPr>
          <p:cNvSpPr/>
          <p:nvPr/>
        </p:nvSpPr>
        <p:spPr>
          <a:xfrm>
            <a:off x="8119132" y="5522927"/>
            <a:ext cx="3522589" cy="651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Transformer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72CE501-CE39-ACE9-8DE8-12614F87C9A8}"/>
              </a:ext>
            </a:extLst>
          </p:cNvPr>
          <p:cNvSpPr/>
          <p:nvPr/>
        </p:nvSpPr>
        <p:spPr>
          <a:xfrm>
            <a:off x="8119132" y="5522926"/>
            <a:ext cx="3522589" cy="651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deBERTa</a:t>
            </a:r>
            <a:r>
              <a:rPr lang="en-US" altLang="zh-CN" b="1" dirty="0">
                <a:solidFill>
                  <a:schemeClr val="tx1"/>
                </a:solidFill>
              </a:rPr>
              <a:t> V3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03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animBg="1"/>
      <p:bldP spid="23" grpId="0"/>
      <p:bldP spid="23" grpId="1"/>
      <p:bldP spid="24" grpId="0"/>
      <p:bldP spid="34" grpId="0" animBg="1"/>
      <p:bldP spid="35" grpId="0"/>
      <p:bldP spid="50" grpId="0"/>
      <p:bldP spid="52" grpId="0" animBg="1"/>
      <p:bldP spid="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5D27-0279-66E2-43FD-DE849B82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ADC2F4-BD1E-B078-0685-311A0E9E7D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9386C2F-85B5-6AA0-0ADD-2E4CD184A90E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29141CA-8E8C-D0E1-C279-4BF579ECA050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Text-to-Emotion – Results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F3A6A37-9834-8C9D-1AE3-8FECA5470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933" y="1465850"/>
            <a:ext cx="5302523" cy="484529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58D3A16-2850-E0A1-3B7D-49A441A439C0}"/>
              </a:ext>
            </a:extLst>
          </p:cNvPr>
          <p:cNvSpPr/>
          <p:nvPr/>
        </p:nvSpPr>
        <p:spPr>
          <a:xfrm>
            <a:off x="2927307" y="5467989"/>
            <a:ext cx="157105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0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B73A-3971-D128-D446-E0C7C7B6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02C9A0-4F0A-3341-31DD-CABA43AB5E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F04DE98-2EF8-8321-608C-6997325A889A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DD50CF8-1C3B-22AE-0D61-4BE58EB38B45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Overall Road Map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4E3C4B8-3F40-828F-69F4-EF66A1DD3441}"/>
              </a:ext>
            </a:extLst>
          </p:cNvPr>
          <p:cNvGrpSpPr/>
          <p:nvPr/>
        </p:nvGrpSpPr>
        <p:grpSpPr>
          <a:xfrm>
            <a:off x="299538" y="2183973"/>
            <a:ext cx="2198184" cy="1160646"/>
            <a:chOff x="1186825" y="2698094"/>
            <a:chExt cx="1387391" cy="55999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389EDD7-0A8C-7B22-5A1C-3B2D7F74C53C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A1B099-6237-FEB6-5CCE-5A7437B00CE4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梯形 13">
            <a:extLst>
              <a:ext uri="{FF2B5EF4-FFF2-40B4-BE49-F238E27FC236}">
                <a16:creationId xmlns:a16="http://schemas.microsoft.com/office/drawing/2014/main" id="{251FCEE4-C82E-D71C-DEA9-CB299010DE9A}"/>
              </a:ext>
            </a:extLst>
          </p:cNvPr>
          <p:cNvSpPr/>
          <p:nvPr/>
        </p:nvSpPr>
        <p:spPr>
          <a:xfrm rot="5400000">
            <a:off x="2723041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4584CBC-E8AC-5CD6-2008-3080278A3D48}"/>
              </a:ext>
            </a:extLst>
          </p:cNvPr>
          <p:cNvGrpSpPr/>
          <p:nvPr/>
        </p:nvGrpSpPr>
        <p:grpSpPr>
          <a:xfrm>
            <a:off x="4529041" y="2224826"/>
            <a:ext cx="1698901" cy="1160646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6659CC9D-44A4-5A1D-5E59-4BAE25D06376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FDF96A7-F4C3-0F35-3805-BBACBFD3F6BB}"/>
                </a:ext>
              </a:extLst>
            </p:cNvPr>
            <p:cNvSpPr txBox="1"/>
            <p:nvPr/>
          </p:nvSpPr>
          <p:spPr>
            <a:xfrm>
              <a:off x="1536809" y="2851868"/>
              <a:ext cx="101029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梯形 17">
            <a:extLst>
              <a:ext uri="{FF2B5EF4-FFF2-40B4-BE49-F238E27FC236}">
                <a16:creationId xmlns:a16="http://schemas.microsoft.com/office/drawing/2014/main" id="{2A7212A8-CD7B-8F47-CCB7-9B589248A2CA}"/>
              </a:ext>
            </a:extLst>
          </p:cNvPr>
          <p:cNvSpPr/>
          <p:nvPr/>
        </p:nvSpPr>
        <p:spPr>
          <a:xfrm rot="16200000">
            <a:off x="6498572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6C5BEA-45FE-3EE5-BA4F-C829709AD6EE}"/>
              </a:ext>
            </a:extLst>
          </p:cNvPr>
          <p:cNvGrpSpPr/>
          <p:nvPr/>
        </p:nvGrpSpPr>
        <p:grpSpPr>
          <a:xfrm>
            <a:off x="8254151" y="2183973"/>
            <a:ext cx="3142097" cy="1160646"/>
            <a:chOff x="1480973" y="2698094"/>
            <a:chExt cx="1307144" cy="5599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DB2AB3A8-5B8E-049C-8D6F-64F2FF27EAAF}"/>
                </a:ext>
              </a:extLst>
            </p:cNvPr>
            <p:cNvSpPr/>
            <p:nvPr/>
          </p:nvSpPr>
          <p:spPr>
            <a:xfrm>
              <a:off x="1480973" y="2698094"/>
              <a:ext cx="1307144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07E81F9-F3EB-6041-F505-DDDF5AA7A228}"/>
                </a:ext>
              </a:extLst>
            </p:cNvPr>
            <p:cNvSpPr txBox="1"/>
            <p:nvPr/>
          </p:nvSpPr>
          <p:spPr>
            <a:xfrm>
              <a:off x="1480973" y="2850482"/>
              <a:ext cx="125419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 Dynamic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CF0D75E-DC9F-222C-0BB4-B24ACB7C4556}"/>
              </a:ext>
            </a:extLst>
          </p:cNvPr>
          <p:cNvCxnSpPr/>
          <p:nvPr/>
        </p:nvCxnSpPr>
        <p:spPr>
          <a:xfrm>
            <a:off x="9925228" y="3572834"/>
            <a:ext cx="0" cy="8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694531D-1E3B-468C-13E9-F132AF72A967}"/>
              </a:ext>
            </a:extLst>
          </p:cNvPr>
          <p:cNvGrpSpPr/>
          <p:nvPr/>
        </p:nvGrpSpPr>
        <p:grpSpPr>
          <a:xfrm>
            <a:off x="8826136" y="4581971"/>
            <a:ext cx="2198184" cy="1160646"/>
            <a:chOff x="1186825" y="2698094"/>
            <a:chExt cx="1387391" cy="55999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7546536C-82CF-2CB3-E028-6B2198888230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2528B78-D3C6-46A8-0867-D5F1BD0CC26B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786147A-9BF9-640E-D5DA-855149B952C3}"/>
              </a:ext>
            </a:extLst>
          </p:cNvPr>
          <p:cNvSpPr txBox="1"/>
          <p:nvPr/>
        </p:nvSpPr>
        <p:spPr>
          <a:xfrm>
            <a:off x="3100317" y="2424080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428F0BA-573C-79E9-3CB3-F4E46587E820}"/>
              </a:ext>
            </a:extLst>
          </p:cNvPr>
          <p:cNvSpPr txBox="1"/>
          <p:nvPr/>
        </p:nvSpPr>
        <p:spPr>
          <a:xfrm>
            <a:off x="7026918" y="2451205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8340057-D19A-9593-C3FE-7D78B0E3BDE0}"/>
              </a:ext>
            </a:extLst>
          </p:cNvPr>
          <p:cNvCxnSpPr>
            <a:cxnSpLocks/>
          </p:cNvCxnSpPr>
          <p:nvPr/>
        </p:nvCxnSpPr>
        <p:spPr>
          <a:xfrm flipH="1">
            <a:off x="6370115" y="5162294"/>
            <a:ext cx="2203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A59CBD9-52CB-10FC-FFA3-3F0D8F2A869A}"/>
              </a:ext>
            </a:extLst>
          </p:cNvPr>
          <p:cNvSpPr/>
          <p:nvPr/>
        </p:nvSpPr>
        <p:spPr>
          <a:xfrm>
            <a:off x="7045889" y="4377584"/>
            <a:ext cx="1005891" cy="7419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LLM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D7B20F3-FA63-B0BC-8B57-21FE5552F0A8}"/>
              </a:ext>
            </a:extLst>
          </p:cNvPr>
          <p:cNvGrpSpPr/>
          <p:nvPr/>
        </p:nvGrpSpPr>
        <p:grpSpPr>
          <a:xfrm>
            <a:off x="3453196" y="4581971"/>
            <a:ext cx="2873958" cy="1160646"/>
            <a:chOff x="760308" y="2698094"/>
            <a:chExt cx="1813908" cy="559993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7069832-37C5-6D6A-9413-D73E7FFB8EEF}"/>
                </a:ext>
              </a:extLst>
            </p:cNvPr>
            <p:cNvSpPr/>
            <p:nvPr/>
          </p:nvSpPr>
          <p:spPr>
            <a:xfrm>
              <a:off x="787423" y="2698094"/>
              <a:ext cx="1786793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BC92C87-B279-CA51-D7F4-DDC57F131C26}"/>
                </a:ext>
              </a:extLst>
            </p:cNvPr>
            <p:cNvSpPr txBox="1"/>
            <p:nvPr/>
          </p:nvSpPr>
          <p:spPr>
            <a:xfrm>
              <a:off x="760308" y="2851868"/>
              <a:ext cx="1786793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New 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9D4BF19-9D42-FB55-0852-A860CD5FD89A}"/>
              </a:ext>
            </a:extLst>
          </p:cNvPr>
          <p:cNvSpPr txBox="1"/>
          <p:nvPr/>
        </p:nvSpPr>
        <p:spPr>
          <a:xfrm>
            <a:off x="2655593" y="2531673"/>
            <a:ext cx="1777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V3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1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8" grpId="0"/>
      <p:bldP spid="28" grpId="1"/>
      <p:bldP spid="29" grpId="0"/>
      <p:bldP spid="33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5172-4ECB-EBB9-FE59-FCF507DF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F0FBFE-A26E-BBD6-BEBD-B2EAB7701D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B267FBA-A396-02B8-87D2-501462773736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D8B8CA6-8708-01AF-A953-9BA03D65F8E3}"/>
              </a:ext>
            </a:extLst>
          </p:cNvPr>
          <p:cNvSpPr txBox="1"/>
          <p:nvPr/>
        </p:nvSpPr>
        <p:spPr>
          <a:xfrm>
            <a:off x="174900" y="407497"/>
            <a:ext cx="9331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Emotion-to-Dynamic – thoughts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88D831-9F3F-C308-109A-FC688DA93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2" y="1395956"/>
            <a:ext cx="12192000" cy="51814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DF9315-6D62-1D20-07CC-3AA43A3DC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49"/>
          <a:stretch>
            <a:fillRect/>
          </a:stretch>
        </p:blipFill>
        <p:spPr>
          <a:xfrm>
            <a:off x="7721702" y="3084131"/>
            <a:ext cx="532056" cy="5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3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6B4B-8072-9542-2851-BBCBA724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891C9A-DFFB-B942-6332-9DDFCA00EC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0F4F7AD-7ABD-B610-1DEF-72CD91C20AD7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ED06BF9-45EF-BDDD-23A8-6033723B7FD2}"/>
              </a:ext>
            </a:extLst>
          </p:cNvPr>
          <p:cNvSpPr txBox="1"/>
          <p:nvPr/>
        </p:nvSpPr>
        <p:spPr>
          <a:xfrm>
            <a:off x="174900" y="407497"/>
            <a:ext cx="8852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Emotion-to-Dynamic – Personality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2269FF-E030-D44D-797C-8826E70A6414}"/>
              </a:ext>
            </a:extLst>
          </p:cNvPr>
          <p:cNvSpPr txBox="1"/>
          <p:nvPr/>
        </p:nvSpPr>
        <p:spPr>
          <a:xfrm>
            <a:off x="497088" y="1633717"/>
            <a:ext cx="7118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Big Five Personality Traits (OCEAN)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DC6485-EBF2-FBE6-B96F-8CF5C5794B5D}"/>
              </a:ext>
            </a:extLst>
          </p:cNvPr>
          <p:cNvSpPr txBox="1"/>
          <p:nvPr/>
        </p:nvSpPr>
        <p:spPr>
          <a:xfrm>
            <a:off x="497088" y="2847528"/>
            <a:ext cx="80945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O - Openness to Experience:</a:t>
            </a:r>
            <a:r>
              <a:rPr lang="en-US" altLang="zh-CN" sz="2000" dirty="0"/>
              <a:t> Describes a person’s willingness to think abstractly, engage with new ideas, appreciate art, and seek novel adventures.</a:t>
            </a:r>
          </a:p>
          <a:p>
            <a:r>
              <a:rPr lang="en-US" altLang="zh-CN" sz="2000" b="1" dirty="0"/>
              <a:t>C - Conscientiousness:</a:t>
            </a:r>
            <a:r>
              <a:rPr lang="en-US" altLang="zh-CN" sz="2000" dirty="0"/>
              <a:t> Reflects a person's level of self-discipline, goal-driven behavior, and adherence to rules and duty.</a:t>
            </a:r>
          </a:p>
          <a:p>
            <a:r>
              <a:rPr lang="en-US" altLang="zh-CN" sz="2000" b="1" dirty="0"/>
              <a:t>E - Extraversion:</a:t>
            </a:r>
            <a:r>
              <a:rPr lang="en-US" altLang="zh-CN" sz="2000" dirty="0"/>
              <a:t> Measures where individuals draw their energy and how they engage with the social world.</a:t>
            </a:r>
          </a:p>
          <a:p>
            <a:r>
              <a:rPr lang="en-US" altLang="zh-CN" sz="2000" b="1" dirty="0"/>
              <a:t>A - Agreeableness:</a:t>
            </a:r>
            <a:r>
              <a:rPr lang="en-US" altLang="zh-CN" sz="2000" dirty="0"/>
              <a:t> Represents one's prosocial tendencies, empathy, and desire to help others.</a:t>
            </a:r>
          </a:p>
          <a:p>
            <a:r>
              <a:rPr lang="en-US" altLang="zh-CN" sz="2000" b="1" dirty="0"/>
              <a:t>N - Neuroticism (or Emotional Stability):</a:t>
            </a:r>
            <a:r>
              <a:rPr lang="en-US" altLang="zh-CN" sz="2000" dirty="0"/>
              <a:t> Gauges an individual's vulnerability to stress and tendency to experience negative emotions.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06955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B7E7-D970-9553-2C50-35E93711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27CAAA-0160-35E5-25BB-FB0907E0CA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E54202-CAEE-4AD8-7FA7-DC2F59A31C53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CA62AE9-ECA4-7641-EA9C-4BE133935D00}"/>
              </a:ext>
            </a:extLst>
          </p:cNvPr>
          <p:cNvSpPr txBox="1"/>
          <p:nvPr/>
        </p:nvSpPr>
        <p:spPr>
          <a:xfrm>
            <a:off x="174899" y="407497"/>
            <a:ext cx="11153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Emotion-to-Dynamic – Gated Recurrent Unit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24B980-D427-B1B9-0B70-749900A576B4}"/>
              </a:ext>
            </a:extLst>
          </p:cNvPr>
          <p:cNvSpPr txBox="1"/>
          <p:nvPr/>
        </p:nvSpPr>
        <p:spPr>
          <a:xfrm>
            <a:off x="454131" y="1736746"/>
            <a:ext cx="90151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Gated Recurrent Unit (GRU)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model is a traditional AI model that specializes in processing sequential data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3AEE83-BA6D-CCD1-B8FE-843B18D530F3}"/>
              </a:ext>
            </a:extLst>
          </p:cNvPr>
          <p:cNvSpPr/>
          <p:nvPr/>
        </p:nvSpPr>
        <p:spPr>
          <a:xfrm>
            <a:off x="8020945" y="2258384"/>
            <a:ext cx="834620" cy="380488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3F96B7-E8E1-FB5C-70FF-138FF83E5A53}"/>
              </a:ext>
            </a:extLst>
          </p:cNvPr>
          <p:cNvSpPr txBox="1"/>
          <p:nvPr/>
        </p:nvSpPr>
        <p:spPr>
          <a:xfrm>
            <a:off x="7963666" y="2167633"/>
            <a:ext cx="283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emotion states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1D09A3F1-6EA3-683F-C0D1-F3EFD4727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4106"/>
          <a:stretch>
            <a:fillRect/>
          </a:stretch>
        </p:blipFill>
        <p:spPr>
          <a:xfrm>
            <a:off x="1734797" y="3312215"/>
            <a:ext cx="6453791" cy="27817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AA7DA3F-A9A1-8B9D-90F5-B46386E6B883}"/>
              </a:ext>
            </a:extLst>
          </p:cNvPr>
          <p:cNvSpPr/>
          <p:nvPr/>
        </p:nvSpPr>
        <p:spPr>
          <a:xfrm>
            <a:off x="3804886" y="3429000"/>
            <a:ext cx="2841391" cy="2026715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930A3C-959C-012D-6CB7-7DE2E25BBB74}"/>
              </a:ext>
            </a:extLst>
          </p:cNvPr>
          <p:cNvSpPr/>
          <p:nvPr/>
        </p:nvSpPr>
        <p:spPr>
          <a:xfrm>
            <a:off x="2450115" y="3312215"/>
            <a:ext cx="974746" cy="609272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C8F680-D116-25D6-1785-A725962E8A8B}"/>
              </a:ext>
            </a:extLst>
          </p:cNvPr>
          <p:cNvSpPr/>
          <p:nvPr/>
        </p:nvSpPr>
        <p:spPr>
          <a:xfrm>
            <a:off x="7089158" y="3390843"/>
            <a:ext cx="385602" cy="452015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ABDDDC-4956-C78E-AFDC-0F54E50D05AD}"/>
              </a:ext>
            </a:extLst>
          </p:cNvPr>
          <p:cNvSpPr/>
          <p:nvPr/>
        </p:nvSpPr>
        <p:spPr>
          <a:xfrm>
            <a:off x="3624358" y="5797955"/>
            <a:ext cx="788081" cy="452015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E2033B-5957-39D3-65F2-B4C548FE525E}"/>
              </a:ext>
            </a:extLst>
          </p:cNvPr>
          <p:cNvSpPr/>
          <p:nvPr/>
        </p:nvSpPr>
        <p:spPr>
          <a:xfrm>
            <a:off x="6750140" y="4516391"/>
            <a:ext cx="1141929" cy="6693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EA85004-3C84-E921-97F8-A71F93632395}"/>
              </a:ext>
            </a:extLst>
          </p:cNvPr>
          <p:cNvGrpSpPr/>
          <p:nvPr/>
        </p:nvGrpSpPr>
        <p:grpSpPr>
          <a:xfrm>
            <a:off x="1663104" y="3139097"/>
            <a:ext cx="1698901" cy="1160647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3598CCD-1FDA-ACDF-266E-080E70D6AFA6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E352B26-962D-DE10-3FC9-49B09D72A0EB}"/>
                </a:ext>
              </a:extLst>
            </p:cNvPr>
            <p:cNvSpPr txBox="1"/>
            <p:nvPr/>
          </p:nvSpPr>
          <p:spPr>
            <a:xfrm>
              <a:off x="1532936" y="2789898"/>
              <a:ext cx="1010292" cy="4009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at turn t-1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F0A982C-A45F-2BDA-535A-2DF0ED100041}"/>
              </a:ext>
            </a:extLst>
          </p:cNvPr>
          <p:cNvGrpSpPr/>
          <p:nvPr/>
        </p:nvGrpSpPr>
        <p:grpSpPr>
          <a:xfrm>
            <a:off x="7131096" y="3121740"/>
            <a:ext cx="1698901" cy="1160647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CC98CE8-1131-7186-0B23-549660A70DAC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4979143-82B6-EFB0-7EA7-3809E8DEE293}"/>
                </a:ext>
              </a:extLst>
            </p:cNvPr>
            <p:cNvSpPr txBox="1"/>
            <p:nvPr/>
          </p:nvSpPr>
          <p:spPr>
            <a:xfrm>
              <a:off x="1532936" y="2789898"/>
              <a:ext cx="1010292" cy="4009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at turn t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85AAE4E-A136-9BD9-7C16-AB6D0365067F}"/>
              </a:ext>
            </a:extLst>
          </p:cNvPr>
          <p:cNvGrpSpPr/>
          <p:nvPr/>
        </p:nvGrpSpPr>
        <p:grpSpPr>
          <a:xfrm>
            <a:off x="1601965" y="5781157"/>
            <a:ext cx="2155225" cy="887827"/>
            <a:chOff x="1213939" y="2698094"/>
            <a:chExt cx="1360277" cy="560428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616ABA1-1C39-D0CC-8C79-E801C9B70C3B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2815025-6275-FEBD-F07E-5BFBA6792C7D}"/>
                </a:ext>
              </a:extLst>
            </p:cNvPr>
            <p:cNvSpPr txBox="1"/>
            <p:nvPr/>
          </p:nvSpPr>
          <p:spPr>
            <a:xfrm>
              <a:off x="1213939" y="2733967"/>
              <a:ext cx="1360276" cy="524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Raw Text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at turn t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加号 27">
            <a:extLst>
              <a:ext uri="{FF2B5EF4-FFF2-40B4-BE49-F238E27FC236}">
                <a16:creationId xmlns:a16="http://schemas.microsoft.com/office/drawing/2014/main" id="{C1D721B1-9067-1141-B4A1-32608E28FCDC}"/>
              </a:ext>
            </a:extLst>
          </p:cNvPr>
          <p:cNvSpPr/>
          <p:nvPr/>
        </p:nvSpPr>
        <p:spPr>
          <a:xfrm>
            <a:off x="3779785" y="5987740"/>
            <a:ext cx="435722" cy="368446"/>
          </a:xfrm>
          <a:prstGeom prst="mathPlus">
            <a:avLst>
              <a:gd name="adj1" fmla="val 101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925510A-871B-4AF1-4E5A-7795B3B037A3}"/>
              </a:ext>
            </a:extLst>
          </p:cNvPr>
          <p:cNvGrpSpPr/>
          <p:nvPr/>
        </p:nvGrpSpPr>
        <p:grpSpPr>
          <a:xfrm>
            <a:off x="4232459" y="5797956"/>
            <a:ext cx="2160869" cy="887138"/>
            <a:chOff x="1210377" y="2698094"/>
            <a:chExt cx="1363839" cy="559993"/>
          </a:xfrm>
          <a:solidFill>
            <a:srgbClr val="FFC000"/>
          </a:solidFill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C113317-ED16-D69D-4D1E-1BE20DDECEF9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8D5F37B-C2B3-44D9-C827-402B8999BBDB}"/>
                </a:ext>
              </a:extLst>
            </p:cNvPr>
            <p:cNvSpPr txBox="1"/>
            <p:nvPr/>
          </p:nvSpPr>
          <p:spPr>
            <a:xfrm>
              <a:off x="1210377" y="2803522"/>
              <a:ext cx="1360276" cy="3302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Personality</a:t>
              </a: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A88BD6F-C7B1-FDDF-771A-039ABAEAA825}"/>
              </a:ext>
            </a:extLst>
          </p:cNvPr>
          <p:cNvSpPr/>
          <p:nvPr/>
        </p:nvSpPr>
        <p:spPr>
          <a:xfrm>
            <a:off x="1442175" y="5742617"/>
            <a:ext cx="5105912" cy="9727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 animBg="1"/>
      <p:bldP spid="12" grpId="0" animBg="1"/>
      <p:bldP spid="13" grpId="0" animBg="1"/>
      <p:bldP spid="14" grpId="0" animBg="1"/>
      <p:bldP spid="15" grpId="0" animBg="1"/>
      <p:bldP spid="28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B466-AFA1-2A1F-944A-624429E11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AE15BF-C89D-6040-AB73-E0B881FD9E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AAD2C43-F801-05E0-184F-4C7F43DB557D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D306941-4A8C-2007-7DEB-51498D0F2EE1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Emotion-to-Dynamic – Training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AD73B18-FFC0-6693-CB54-BBC994447CA4}"/>
              </a:ext>
            </a:extLst>
          </p:cNvPr>
          <p:cNvGrpSpPr/>
          <p:nvPr/>
        </p:nvGrpSpPr>
        <p:grpSpPr>
          <a:xfrm>
            <a:off x="749086" y="2414422"/>
            <a:ext cx="1698901" cy="1160646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338017C-E7C4-42AE-2A4E-5081F8BF23ED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A8C237B-D9AD-7209-3BC4-F2A457BC7F33}"/>
                </a:ext>
              </a:extLst>
            </p:cNvPr>
            <p:cNvSpPr txBox="1"/>
            <p:nvPr/>
          </p:nvSpPr>
          <p:spPr>
            <a:xfrm>
              <a:off x="1532936" y="2777619"/>
              <a:ext cx="1010292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initial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梯形 7">
            <a:extLst>
              <a:ext uri="{FF2B5EF4-FFF2-40B4-BE49-F238E27FC236}">
                <a16:creationId xmlns:a16="http://schemas.microsoft.com/office/drawing/2014/main" id="{EF5A55D1-AF65-7CA9-2033-DB7983D280D6}"/>
              </a:ext>
            </a:extLst>
          </p:cNvPr>
          <p:cNvSpPr/>
          <p:nvPr/>
        </p:nvSpPr>
        <p:spPr>
          <a:xfrm rot="16200000">
            <a:off x="5199228" y="2131941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9F56BB0-AFA5-A7CD-0060-DA2FCD5F4D77}"/>
              </a:ext>
            </a:extLst>
          </p:cNvPr>
          <p:cNvGrpSpPr/>
          <p:nvPr/>
        </p:nvGrpSpPr>
        <p:grpSpPr>
          <a:xfrm>
            <a:off x="6943930" y="1823269"/>
            <a:ext cx="4736296" cy="1861882"/>
            <a:chOff x="1476448" y="2469870"/>
            <a:chExt cx="1970347" cy="8983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D5F8AEAF-A732-268D-48F5-A8C32E9C03B5}"/>
                </a:ext>
              </a:extLst>
            </p:cNvPr>
            <p:cNvSpPr/>
            <p:nvPr/>
          </p:nvSpPr>
          <p:spPr>
            <a:xfrm>
              <a:off x="1480973" y="2698094"/>
              <a:ext cx="1965822" cy="670104"/>
            </a:xfrm>
            <a:prstGeom prst="roundRect">
              <a:avLst/>
            </a:prstGeom>
            <a:noFill/>
            <a:ln>
              <a:solidFill>
                <a:srgbClr val="8ED97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0F7939E-D3B5-EEE3-B422-82616B891CC9}"/>
                </a:ext>
              </a:extLst>
            </p:cNvPr>
            <p:cNvSpPr txBox="1"/>
            <p:nvPr/>
          </p:nvSpPr>
          <p:spPr>
            <a:xfrm>
              <a:off x="1476448" y="2469870"/>
              <a:ext cx="1254192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 Dynamic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E812377-A0D2-36A4-5B24-130F4946B6C2}"/>
              </a:ext>
            </a:extLst>
          </p:cNvPr>
          <p:cNvSpPr txBox="1"/>
          <p:nvPr/>
        </p:nvSpPr>
        <p:spPr>
          <a:xfrm>
            <a:off x="5709163" y="2498789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EA0FDB-947D-1475-D993-735D4557E32C}"/>
              </a:ext>
            </a:extLst>
          </p:cNvPr>
          <p:cNvSpPr txBox="1"/>
          <p:nvPr/>
        </p:nvSpPr>
        <p:spPr>
          <a:xfrm>
            <a:off x="5081872" y="2717409"/>
            <a:ext cx="1777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GRU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3291AB-B194-7070-883F-F762CAE62BE3}"/>
              </a:ext>
            </a:extLst>
          </p:cNvPr>
          <p:cNvGrpSpPr/>
          <p:nvPr/>
        </p:nvGrpSpPr>
        <p:grpSpPr>
          <a:xfrm>
            <a:off x="7012807" y="2405261"/>
            <a:ext cx="1832885" cy="1160646"/>
            <a:chOff x="1489711" y="2698094"/>
            <a:chExt cx="1035293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C84A3EE-838C-15B0-393D-6175106323EE}"/>
                </a:ext>
              </a:extLst>
            </p:cNvPr>
            <p:cNvSpPr/>
            <p:nvPr/>
          </p:nvSpPr>
          <p:spPr>
            <a:xfrm>
              <a:off x="1489711" y="2698094"/>
              <a:ext cx="1035293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92C8DA4-5C16-ADD5-8732-46D23BF1E01B}"/>
                </a:ext>
              </a:extLst>
            </p:cNvPr>
            <p:cNvSpPr txBox="1"/>
            <p:nvPr/>
          </p:nvSpPr>
          <p:spPr>
            <a:xfrm>
              <a:off x="1532936" y="2777619"/>
              <a:ext cx="948843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t1 predicted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D63E746-66DA-CC2E-817D-AD6FD3627861}"/>
              </a:ext>
            </a:extLst>
          </p:cNvPr>
          <p:cNvGrpSpPr/>
          <p:nvPr/>
        </p:nvGrpSpPr>
        <p:grpSpPr>
          <a:xfrm>
            <a:off x="8922218" y="2405261"/>
            <a:ext cx="1832885" cy="1160646"/>
            <a:chOff x="1489711" y="2698094"/>
            <a:chExt cx="1035293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37FC940-40A4-EB5E-5D07-7778E4453371}"/>
                </a:ext>
              </a:extLst>
            </p:cNvPr>
            <p:cNvSpPr/>
            <p:nvPr/>
          </p:nvSpPr>
          <p:spPr>
            <a:xfrm>
              <a:off x="1489711" y="2698094"/>
              <a:ext cx="1035293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62118AF-79B8-2A9C-03BD-B302F05B33DD}"/>
                </a:ext>
              </a:extLst>
            </p:cNvPr>
            <p:cNvSpPr txBox="1"/>
            <p:nvPr/>
          </p:nvSpPr>
          <p:spPr>
            <a:xfrm>
              <a:off x="1532936" y="2777619"/>
              <a:ext cx="948843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t2 predicted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57A3A310-45F4-040E-0989-DB23BD607D7B}"/>
              </a:ext>
            </a:extLst>
          </p:cNvPr>
          <p:cNvSpPr txBox="1"/>
          <p:nvPr/>
        </p:nvSpPr>
        <p:spPr>
          <a:xfrm>
            <a:off x="10831629" y="2603649"/>
            <a:ext cx="822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738F9A4-1D9A-39A3-A613-F5CAF33FCDD9}"/>
              </a:ext>
            </a:extLst>
          </p:cNvPr>
          <p:cNvSpPr/>
          <p:nvPr/>
        </p:nvSpPr>
        <p:spPr>
          <a:xfrm>
            <a:off x="675917" y="2300313"/>
            <a:ext cx="4275767" cy="1388863"/>
          </a:xfrm>
          <a:prstGeom prst="roundRect">
            <a:avLst/>
          </a:prstGeom>
          <a:noFill/>
          <a:ln>
            <a:solidFill>
              <a:srgbClr val="8ED97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44B489B-8776-E8BD-0B01-B01F5B86A12D}"/>
              </a:ext>
            </a:extLst>
          </p:cNvPr>
          <p:cNvGrpSpPr/>
          <p:nvPr/>
        </p:nvGrpSpPr>
        <p:grpSpPr>
          <a:xfrm>
            <a:off x="2494164" y="2407420"/>
            <a:ext cx="1698901" cy="1160646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F7C381E-42FB-8041-3909-4898243FFA8E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34417FA-F2C9-7067-7ED7-697D3EF4B1DF}"/>
                </a:ext>
              </a:extLst>
            </p:cNvPr>
            <p:cNvSpPr txBox="1"/>
            <p:nvPr/>
          </p:nvSpPr>
          <p:spPr>
            <a:xfrm>
              <a:off x="1532936" y="2777619"/>
              <a:ext cx="1010292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t1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58955862-1E9A-5829-0E19-16AAF790E4AB}"/>
              </a:ext>
            </a:extLst>
          </p:cNvPr>
          <p:cNvSpPr txBox="1"/>
          <p:nvPr/>
        </p:nvSpPr>
        <p:spPr>
          <a:xfrm>
            <a:off x="4170887" y="2569505"/>
            <a:ext cx="822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962FE13-E00C-40A8-A089-D5E4FC0B1EAB}"/>
              </a:ext>
            </a:extLst>
          </p:cNvPr>
          <p:cNvSpPr/>
          <p:nvPr/>
        </p:nvSpPr>
        <p:spPr>
          <a:xfrm>
            <a:off x="6928556" y="4216521"/>
            <a:ext cx="4725419" cy="1388863"/>
          </a:xfrm>
          <a:prstGeom prst="roundRect">
            <a:avLst/>
          </a:prstGeom>
          <a:noFill/>
          <a:ln>
            <a:solidFill>
              <a:srgbClr val="8ED97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81840A-EC36-BF38-440A-3D0A4F10D65C}"/>
              </a:ext>
            </a:extLst>
          </p:cNvPr>
          <p:cNvGrpSpPr/>
          <p:nvPr/>
        </p:nvGrpSpPr>
        <p:grpSpPr>
          <a:xfrm>
            <a:off x="7053263" y="4293090"/>
            <a:ext cx="1832885" cy="1160646"/>
            <a:chOff x="1489711" y="2698094"/>
            <a:chExt cx="1035293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DB4DE4E4-BCF5-E977-8CD0-2C88F5A2C9E2}"/>
                </a:ext>
              </a:extLst>
            </p:cNvPr>
            <p:cNvSpPr/>
            <p:nvPr/>
          </p:nvSpPr>
          <p:spPr>
            <a:xfrm>
              <a:off x="1489711" y="2698094"/>
              <a:ext cx="1035293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ADA31FA-0466-D01A-86A7-CA25210FAE9C}"/>
                </a:ext>
              </a:extLst>
            </p:cNvPr>
            <p:cNvSpPr txBox="1"/>
            <p:nvPr/>
          </p:nvSpPr>
          <p:spPr>
            <a:xfrm>
              <a:off x="1532936" y="2777619"/>
              <a:ext cx="948843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t1 real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4CDA16B-EA7B-D482-0697-3E6D8B32DFDD}"/>
              </a:ext>
            </a:extLst>
          </p:cNvPr>
          <p:cNvGrpSpPr/>
          <p:nvPr/>
        </p:nvGrpSpPr>
        <p:grpSpPr>
          <a:xfrm>
            <a:off x="8962674" y="4293090"/>
            <a:ext cx="1832885" cy="1160646"/>
            <a:chOff x="1489711" y="2698094"/>
            <a:chExt cx="1035293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E470AE-45DA-AB52-1614-8CE6644659BA}"/>
                </a:ext>
              </a:extLst>
            </p:cNvPr>
            <p:cNvSpPr/>
            <p:nvPr/>
          </p:nvSpPr>
          <p:spPr>
            <a:xfrm>
              <a:off x="1489711" y="2698094"/>
              <a:ext cx="1035293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A293D73-6B10-FBFF-C257-8DD16CE8DAF1}"/>
                </a:ext>
              </a:extLst>
            </p:cNvPr>
            <p:cNvSpPr txBox="1"/>
            <p:nvPr/>
          </p:nvSpPr>
          <p:spPr>
            <a:xfrm>
              <a:off x="1532936" y="2777619"/>
              <a:ext cx="948843" cy="4009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t2 real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961F3425-1507-B83B-76DA-1AED426453BE}"/>
              </a:ext>
            </a:extLst>
          </p:cNvPr>
          <p:cNvSpPr txBox="1"/>
          <p:nvPr/>
        </p:nvSpPr>
        <p:spPr>
          <a:xfrm>
            <a:off x="10872085" y="4491478"/>
            <a:ext cx="822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3E5D6F3-E9B3-6807-894C-DD315722BE52}"/>
              </a:ext>
            </a:extLst>
          </p:cNvPr>
          <p:cNvGrpSpPr/>
          <p:nvPr/>
        </p:nvGrpSpPr>
        <p:grpSpPr>
          <a:xfrm>
            <a:off x="2237759" y="4949301"/>
            <a:ext cx="2755474" cy="657372"/>
            <a:chOff x="862235" y="4756107"/>
            <a:chExt cx="2755474" cy="1583319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762CBDCD-3518-0FE9-B107-681BDD3CB62B}"/>
                </a:ext>
              </a:extLst>
            </p:cNvPr>
            <p:cNvSpPr/>
            <p:nvPr/>
          </p:nvSpPr>
          <p:spPr>
            <a:xfrm>
              <a:off x="862235" y="4756107"/>
              <a:ext cx="2755474" cy="1583319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16437F9-6DED-4890-DB5F-5F2418C46669}"/>
                </a:ext>
              </a:extLst>
            </p:cNvPr>
            <p:cNvSpPr txBox="1"/>
            <p:nvPr/>
          </p:nvSpPr>
          <p:spPr>
            <a:xfrm>
              <a:off x="932810" y="4819287"/>
              <a:ext cx="26143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</a:t>
              </a:r>
              <a:r>
                <a:rPr lang="en-US" altLang="zh-CN" dirty="0" err="1"/>
                <a:t>EmoDynamic</a:t>
              </a:r>
              <a:r>
                <a:rPr lang="en-US" altLang="zh-CN" dirty="0"/>
                <a:t> (custom AI generated)</a:t>
              </a:r>
            </a:p>
            <a:p>
              <a:endParaRPr lang="zh-CN" altLang="en-US" dirty="0"/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00AC9235-5A55-7739-85F8-ED504F2E465E}"/>
              </a:ext>
            </a:extLst>
          </p:cNvPr>
          <p:cNvSpPr txBox="1"/>
          <p:nvPr/>
        </p:nvSpPr>
        <p:spPr>
          <a:xfrm>
            <a:off x="2308334" y="4484280"/>
            <a:ext cx="1439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D3F6B684-DB96-27D9-578C-C96F65CE0B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68609" y="3943863"/>
            <a:ext cx="895688" cy="7507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0D71D9F1-B5B1-BF3F-8DEF-76B54E9856AB}"/>
              </a:ext>
            </a:extLst>
          </p:cNvPr>
          <p:cNvCxnSpPr>
            <a:cxnSpLocks/>
          </p:cNvCxnSpPr>
          <p:nvPr/>
        </p:nvCxnSpPr>
        <p:spPr>
          <a:xfrm flipV="1">
            <a:off x="5268311" y="4873413"/>
            <a:ext cx="1363909" cy="4901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箭头: 左右 44">
            <a:extLst>
              <a:ext uri="{FF2B5EF4-FFF2-40B4-BE49-F238E27FC236}">
                <a16:creationId xmlns:a16="http://schemas.microsoft.com/office/drawing/2014/main" id="{1BC149D3-80A5-93C9-7662-BF17F09982E3}"/>
              </a:ext>
            </a:extLst>
          </p:cNvPr>
          <p:cNvSpPr/>
          <p:nvPr/>
        </p:nvSpPr>
        <p:spPr>
          <a:xfrm rot="5400000">
            <a:off x="8960594" y="3861545"/>
            <a:ext cx="483152" cy="1781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525AC9-380D-E0C0-2BD8-E2C3B0DBEF9A}"/>
              </a:ext>
            </a:extLst>
          </p:cNvPr>
          <p:cNvSpPr txBox="1"/>
          <p:nvPr/>
        </p:nvSpPr>
        <p:spPr>
          <a:xfrm>
            <a:off x="9222466" y="3758723"/>
            <a:ext cx="1313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compare</a:t>
            </a:r>
            <a:endParaRPr lang="zh-CN" altLang="en-US" sz="1600" dirty="0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C48E205-3252-E6D1-3DCE-B096BE5E21EC}"/>
              </a:ext>
            </a:extLst>
          </p:cNvPr>
          <p:cNvCxnSpPr>
            <a:cxnSpLocks/>
          </p:cNvCxnSpPr>
          <p:nvPr/>
        </p:nvCxnSpPr>
        <p:spPr>
          <a:xfrm flipH="1">
            <a:off x="6096000" y="3967686"/>
            <a:ext cx="29027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5B2174E-A987-4777-C7DA-29E2FFF315DC}"/>
              </a:ext>
            </a:extLst>
          </p:cNvPr>
          <p:cNvCxnSpPr/>
          <p:nvPr/>
        </p:nvCxnSpPr>
        <p:spPr>
          <a:xfrm flipV="1">
            <a:off x="6096000" y="3575068"/>
            <a:ext cx="0" cy="392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FD252F80-A121-4446-69F8-063255489738}"/>
              </a:ext>
            </a:extLst>
          </p:cNvPr>
          <p:cNvSpPr txBox="1"/>
          <p:nvPr/>
        </p:nvSpPr>
        <p:spPr>
          <a:xfrm>
            <a:off x="5422473" y="3598355"/>
            <a:ext cx="63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077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2" grpId="1"/>
      <p:bldP spid="13" grpId="0"/>
      <p:bldP spid="20" grpId="0"/>
      <p:bldP spid="21" grpId="0" animBg="1"/>
      <p:bldP spid="25" grpId="0"/>
      <p:bldP spid="27" grpId="0" animBg="1"/>
      <p:bldP spid="35" grpId="0"/>
      <p:bldP spid="39" grpId="0"/>
      <p:bldP spid="45" grpId="0" animBg="1"/>
      <p:bldP spid="46" grpId="0"/>
      <p:bldP spid="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77F5-8C53-6FE2-2EAE-93F6409C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1FD33F-2433-8263-B331-FBFBC277A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9135D0F-9800-9750-2673-B3CF567D316A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5F3EFD9-DD5E-EBC4-DC9B-829614B1D2EC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Emotion-to-Dynamic – 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551102-4FA6-BF9B-DFE3-DC86B9861043}"/>
              </a:ext>
            </a:extLst>
          </p:cNvPr>
          <p:cNvSpPr txBox="1"/>
          <p:nvPr/>
        </p:nvSpPr>
        <p:spPr>
          <a:xfrm>
            <a:off x="1190561" y="2086550"/>
            <a:ext cx="32218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GRU train</a:t>
            </a:r>
          </a:p>
          <a:p>
            <a:endParaRPr lang="en-US" altLang="zh-CN" dirty="0"/>
          </a:p>
          <a:p>
            <a:r>
              <a:rPr lang="en-US" altLang="zh-CN" dirty="0"/>
              <a:t>Loaded data:</a:t>
            </a:r>
          </a:p>
          <a:p>
            <a:r>
              <a:rPr lang="en-US" altLang="zh-CN" dirty="0"/>
              <a:t>  raw dialogues:     4225</a:t>
            </a:r>
          </a:p>
          <a:p>
            <a:r>
              <a:rPr lang="en-US" altLang="zh-CN" dirty="0"/>
              <a:t>  train dialogues:   3591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val</a:t>
            </a:r>
            <a:r>
              <a:rPr lang="en-US" altLang="zh-CN" dirty="0"/>
              <a:t> dialogues:     634</a:t>
            </a:r>
          </a:p>
          <a:p>
            <a:r>
              <a:rPr lang="en-US" altLang="zh-CN" dirty="0"/>
              <a:t>  train sequences:   6033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val</a:t>
            </a:r>
            <a:r>
              <a:rPr lang="en-US" altLang="zh-CN" dirty="0"/>
              <a:t> sequences:     1051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chunk_len</a:t>
            </a:r>
            <a:r>
              <a:rPr lang="en-US" altLang="zh-CN" dirty="0"/>
              <a:t>:         None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include_first_turn:True</a:t>
            </a:r>
            <a:endParaRPr lang="en-US" altLang="zh-CN" dirty="0"/>
          </a:p>
          <a:p>
            <a:r>
              <a:rPr lang="en-US" altLang="zh-CN" dirty="0"/>
              <a:t>  device:            </a:t>
            </a:r>
            <a:r>
              <a:rPr lang="en-US" altLang="zh-CN" dirty="0" err="1"/>
              <a:t>cuda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2605CC-511A-3193-C293-79D9DFDA8191}"/>
              </a:ext>
            </a:extLst>
          </p:cNvPr>
          <p:cNvSpPr txBox="1"/>
          <p:nvPr/>
        </p:nvSpPr>
        <p:spPr>
          <a:xfrm>
            <a:off x="5075226" y="2297015"/>
            <a:ext cx="354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dirty="0"/>
              <a:t>val_mse=0.00445 val_rmse=0.06567 val_mae=0.04572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029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D9E8-4E28-7DDE-98B1-959B2545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FCEBD11-585A-A563-DCDE-01B3206E07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3A7FED3-DFF7-3689-7A7F-4D823817C0B9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458E89A-8FFD-13B0-7720-AC093AECD4EC}"/>
              </a:ext>
            </a:extLst>
          </p:cNvPr>
          <p:cNvSpPr txBox="1"/>
          <p:nvPr/>
        </p:nvSpPr>
        <p:spPr>
          <a:xfrm>
            <a:off x="1524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Overall Road Map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AEAB35-A307-1702-2B72-21306F31B3F8}"/>
              </a:ext>
            </a:extLst>
          </p:cNvPr>
          <p:cNvGrpSpPr/>
          <p:nvPr/>
        </p:nvGrpSpPr>
        <p:grpSpPr>
          <a:xfrm>
            <a:off x="299538" y="2183973"/>
            <a:ext cx="2198184" cy="1160646"/>
            <a:chOff x="1186825" y="2698094"/>
            <a:chExt cx="1387391" cy="55999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4D7FAAB-E9CC-8DCF-B7EF-9C3B6357F959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5CC7EFF-B498-3A9B-ECFD-AD36E222C2AB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梯形 13">
            <a:extLst>
              <a:ext uri="{FF2B5EF4-FFF2-40B4-BE49-F238E27FC236}">
                <a16:creationId xmlns:a16="http://schemas.microsoft.com/office/drawing/2014/main" id="{CB70A23F-38F2-6A31-FE09-94BABB3B1B2F}"/>
              </a:ext>
            </a:extLst>
          </p:cNvPr>
          <p:cNvSpPr/>
          <p:nvPr/>
        </p:nvSpPr>
        <p:spPr>
          <a:xfrm rot="5400000">
            <a:off x="2723041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3C0D10-C181-75D1-3B81-694E92F4177C}"/>
              </a:ext>
            </a:extLst>
          </p:cNvPr>
          <p:cNvGrpSpPr/>
          <p:nvPr/>
        </p:nvGrpSpPr>
        <p:grpSpPr>
          <a:xfrm>
            <a:off x="4529041" y="2224826"/>
            <a:ext cx="1698901" cy="1160646"/>
            <a:chOff x="1501949" y="2698094"/>
            <a:chExt cx="1072267" cy="55999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B9FE916-9054-017B-577B-A3B21F711B83}"/>
                </a:ext>
              </a:extLst>
            </p:cNvPr>
            <p:cNvSpPr/>
            <p:nvPr/>
          </p:nvSpPr>
          <p:spPr>
            <a:xfrm>
              <a:off x="1501949" y="2698094"/>
              <a:ext cx="1072267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2FC5EF9-A4A9-9983-CD21-DF9F3988B8B8}"/>
                </a:ext>
              </a:extLst>
            </p:cNvPr>
            <p:cNvSpPr txBox="1"/>
            <p:nvPr/>
          </p:nvSpPr>
          <p:spPr>
            <a:xfrm>
              <a:off x="1536809" y="2851868"/>
              <a:ext cx="101029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梯形 17">
            <a:extLst>
              <a:ext uri="{FF2B5EF4-FFF2-40B4-BE49-F238E27FC236}">
                <a16:creationId xmlns:a16="http://schemas.microsoft.com/office/drawing/2014/main" id="{23599BBA-9D81-A63B-286A-4F314EB1C5D2}"/>
              </a:ext>
            </a:extLst>
          </p:cNvPr>
          <p:cNvSpPr/>
          <p:nvPr/>
        </p:nvSpPr>
        <p:spPr>
          <a:xfrm rot="16200000">
            <a:off x="6498572" y="2019626"/>
            <a:ext cx="1535370" cy="1571046"/>
          </a:xfrm>
          <a:prstGeom prst="trapezoid">
            <a:avLst/>
          </a:prstGeom>
          <a:solidFill>
            <a:srgbClr val="A6CA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F25F22-577C-D0FE-0C2E-E673E17D67EE}"/>
              </a:ext>
            </a:extLst>
          </p:cNvPr>
          <p:cNvGrpSpPr/>
          <p:nvPr/>
        </p:nvGrpSpPr>
        <p:grpSpPr>
          <a:xfrm>
            <a:off x="8254151" y="2183973"/>
            <a:ext cx="3142097" cy="1160646"/>
            <a:chOff x="1480973" y="2698094"/>
            <a:chExt cx="1307144" cy="5599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0FFFCA9-BDD2-DBC2-BB8A-6FD571E8AB51}"/>
                </a:ext>
              </a:extLst>
            </p:cNvPr>
            <p:cNvSpPr/>
            <p:nvPr/>
          </p:nvSpPr>
          <p:spPr>
            <a:xfrm>
              <a:off x="1480973" y="2698094"/>
              <a:ext cx="1307144" cy="55999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4128E7B-9CFC-53B4-8F02-05500C90CDFF}"/>
                </a:ext>
              </a:extLst>
            </p:cNvPr>
            <p:cNvSpPr txBox="1"/>
            <p:nvPr/>
          </p:nvSpPr>
          <p:spPr>
            <a:xfrm>
              <a:off x="1480973" y="2850482"/>
              <a:ext cx="1254192" cy="252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Emotion Dynamic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FE4194C-6FEF-CD89-B09D-B990DDCB583A}"/>
              </a:ext>
            </a:extLst>
          </p:cNvPr>
          <p:cNvCxnSpPr/>
          <p:nvPr/>
        </p:nvCxnSpPr>
        <p:spPr>
          <a:xfrm>
            <a:off x="9946708" y="3529876"/>
            <a:ext cx="0" cy="89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6DBDD3E-8F64-1E8D-38D8-AFCAC8A290A9}"/>
              </a:ext>
            </a:extLst>
          </p:cNvPr>
          <p:cNvGrpSpPr/>
          <p:nvPr/>
        </p:nvGrpSpPr>
        <p:grpSpPr>
          <a:xfrm>
            <a:off x="8826136" y="4581971"/>
            <a:ext cx="2198184" cy="1160646"/>
            <a:chOff x="1186825" y="2698094"/>
            <a:chExt cx="1387391" cy="55999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8A76A78D-2D2B-ED33-DE7B-502C99C0B0AC}"/>
                </a:ext>
              </a:extLst>
            </p:cNvPr>
            <p:cNvSpPr/>
            <p:nvPr/>
          </p:nvSpPr>
          <p:spPr>
            <a:xfrm>
              <a:off x="1213940" y="2698094"/>
              <a:ext cx="1360276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3551030-636D-A5A5-7A54-289A1B564E8A}"/>
                </a:ext>
              </a:extLst>
            </p:cNvPr>
            <p:cNvSpPr txBox="1"/>
            <p:nvPr/>
          </p:nvSpPr>
          <p:spPr>
            <a:xfrm>
              <a:off x="1186825" y="2851868"/>
              <a:ext cx="1360276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15B5405-64CB-FF6C-8AE5-E313DEF92F55}"/>
              </a:ext>
            </a:extLst>
          </p:cNvPr>
          <p:cNvSpPr txBox="1"/>
          <p:nvPr/>
        </p:nvSpPr>
        <p:spPr>
          <a:xfrm>
            <a:off x="7026918" y="2451205"/>
            <a:ext cx="980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C165741-369A-113D-65B2-F2D492C65E6A}"/>
              </a:ext>
            </a:extLst>
          </p:cNvPr>
          <p:cNvCxnSpPr>
            <a:cxnSpLocks/>
          </p:cNvCxnSpPr>
          <p:nvPr/>
        </p:nvCxnSpPr>
        <p:spPr>
          <a:xfrm flipH="1">
            <a:off x="6370115" y="5162294"/>
            <a:ext cx="2203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D835741-3C32-E247-14C6-2F6E5FB6C932}"/>
              </a:ext>
            </a:extLst>
          </p:cNvPr>
          <p:cNvSpPr/>
          <p:nvPr/>
        </p:nvSpPr>
        <p:spPr>
          <a:xfrm>
            <a:off x="7045889" y="4377584"/>
            <a:ext cx="1005891" cy="7419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LLM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58B74DB-B8D5-8A68-0D0A-907F87B902FA}"/>
              </a:ext>
            </a:extLst>
          </p:cNvPr>
          <p:cNvGrpSpPr/>
          <p:nvPr/>
        </p:nvGrpSpPr>
        <p:grpSpPr>
          <a:xfrm>
            <a:off x="3453196" y="4581971"/>
            <a:ext cx="2873958" cy="1160646"/>
            <a:chOff x="760308" y="2698094"/>
            <a:chExt cx="1813908" cy="559993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20569EC6-B963-394E-D54E-F3B733C5B7F5}"/>
                </a:ext>
              </a:extLst>
            </p:cNvPr>
            <p:cNvSpPr/>
            <p:nvPr/>
          </p:nvSpPr>
          <p:spPr>
            <a:xfrm>
              <a:off x="787423" y="2698094"/>
              <a:ext cx="1786793" cy="55999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CD4E587-ED1C-40F7-E9CF-9F7796BBFDDC}"/>
                </a:ext>
              </a:extLst>
            </p:cNvPr>
            <p:cNvSpPr txBox="1"/>
            <p:nvPr/>
          </p:nvSpPr>
          <p:spPr>
            <a:xfrm>
              <a:off x="760308" y="2851868"/>
              <a:ext cx="1786793" cy="25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New Raw Text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4DF3BBE-A2BD-4579-C4EA-99E975F7180D}"/>
              </a:ext>
            </a:extLst>
          </p:cNvPr>
          <p:cNvSpPr txBox="1"/>
          <p:nvPr/>
        </p:nvSpPr>
        <p:spPr>
          <a:xfrm>
            <a:off x="2655593" y="2561369"/>
            <a:ext cx="1777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V3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B59E6B-E885-7597-9FFB-D66E03AF9A93}"/>
              </a:ext>
            </a:extLst>
          </p:cNvPr>
          <p:cNvSpPr txBox="1"/>
          <p:nvPr/>
        </p:nvSpPr>
        <p:spPr>
          <a:xfrm>
            <a:off x="6899633" y="2582242"/>
            <a:ext cx="980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GRU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4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BFFA-5B45-1226-ABC7-DE45AA45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3EB2CA-E37A-5D5C-7F70-81EB8D19F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0861888-F2FB-4001-EA09-D4AEBA10ECB8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88BCF96-A4D5-FCCD-22B4-A986193251E3}"/>
              </a:ext>
            </a:extLst>
          </p:cNvPr>
          <p:cNvSpPr txBox="1"/>
          <p:nvPr/>
        </p:nvSpPr>
        <p:spPr>
          <a:xfrm>
            <a:off x="174900" y="407497"/>
            <a:ext cx="776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Prompt Engineering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21BA73-E35D-EADD-8F30-5D2F1B0A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2943"/>
            <a:ext cx="12192000" cy="447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49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6D31-29D4-0324-8A4B-944A049F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A81D2E-7A01-AD04-F2D7-7390AB6F7D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73C2947-EAF0-65EF-7C7A-637CE754202D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EDEFEC9-3B79-397A-A4FF-7FD2457CB936}"/>
              </a:ext>
            </a:extLst>
          </p:cNvPr>
          <p:cNvSpPr txBox="1"/>
          <p:nvPr/>
        </p:nvSpPr>
        <p:spPr>
          <a:xfrm>
            <a:off x="174899" y="407497"/>
            <a:ext cx="10883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A2C4CF-6496-834C-5791-1CED34550C17}"/>
              </a:ext>
            </a:extLst>
          </p:cNvPr>
          <p:cNvSpPr txBox="1"/>
          <p:nvPr/>
        </p:nvSpPr>
        <p:spPr>
          <a:xfrm>
            <a:off x="490953" y="1890169"/>
            <a:ext cx="87819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We mainly worked on three different parts to achieve emotion dynamic modeling aligning with contextual evidence and personality: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VAD encoder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Converts raw natural language into Valence, Arousal, and Dominance metric.</a:t>
            </a:r>
          </a:p>
          <a:p>
            <a:pPr marL="285750" indent="-285750">
              <a:buFontTx/>
              <a:buChar char="-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GRU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Predict the VAD metric for the next upcoming text based on contextual emotional states from the past.</a:t>
            </a:r>
          </a:p>
          <a:p>
            <a:pPr marL="285750" indent="-285750">
              <a:buFontTx/>
              <a:buChar char="-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generate text that are emotionally aligned with what GRU had instructed it.</a:t>
            </a:r>
          </a:p>
        </p:txBody>
      </p:sp>
    </p:spTree>
    <p:extLst>
      <p:ext uri="{BB962C8B-B14F-4D97-AF65-F5344CB8AC3E}">
        <p14:creationId xmlns:p14="http://schemas.microsoft.com/office/powerpoint/2010/main" val="3053520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3498B-CEDE-D71F-FD1D-734AD3EB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519441-E183-D673-40A4-3E7B5282B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A375452-C73D-308C-9A31-4284BA7EA83C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89DDD90-366E-4745-4209-C0C604F1A224}"/>
              </a:ext>
            </a:extLst>
          </p:cNvPr>
          <p:cNvSpPr txBox="1"/>
          <p:nvPr/>
        </p:nvSpPr>
        <p:spPr>
          <a:xfrm>
            <a:off x="174899" y="407497"/>
            <a:ext cx="10883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A6C95-1D9A-2F57-E5FC-278856C9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2379"/>
            <a:ext cx="12192000" cy="360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5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26C7-87C9-98E9-A530-609C0E66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4401FB-51D0-5B95-ED18-A565D8141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6631D4A-F286-6A7C-841E-B82A2EDB29AA}"/>
              </a:ext>
            </a:extLst>
          </p:cNvPr>
          <p:cNvCxnSpPr>
            <a:cxnSpLocks/>
          </p:cNvCxnSpPr>
          <p:nvPr/>
        </p:nvCxnSpPr>
        <p:spPr>
          <a:xfrm>
            <a:off x="233202" y="1115383"/>
            <a:ext cx="91480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3247289-E1C5-71B9-5AB8-5FE19F481CD5}"/>
              </a:ext>
            </a:extLst>
          </p:cNvPr>
          <p:cNvSpPr txBox="1"/>
          <p:nvPr/>
        </p:nvSpPr>
        <p:spPr>
          <a:xfrm>
            <a:off x="174899" y="407497"/>
            <a:ext cx="10883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Important References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8A0DC0-C667-83CC-E63F-4AF4E3AE65A2}"/>
              </a:ext>
            </a:extLst>
          </p:cNvPr>
          <p:cNvSpPr txBox="1"/>
          <p:nvPr/>
        </p:nvSpPr>
        <p:spPr>
          <a:xfrm>
            <a:off x="312982" y="1447534"/>
            <a:ext cx="111078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Russell, J. A. &amp; Mehrabian, A. (1977). “Evidence for a three-factor theory of emotions.”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Goldberg, L. R. (1990). “An alternative description of personality: The Big-Five factor structure.”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Kshirsagar, S. &amp; </a:t>
            </a:r>
            <a:r>
              <a:rPr lang="en-US" altLang="zh-CN" dirty="0" err="1"/>
              <a:t>Magnenat</a:t>
            </a:r>
            <a:r>
              <a:rPr lang="en-US" altLang="zh-CN" dirty="0"/>
              <a:t>-Thalmann, N. (2002). “A Multilayer Personality Model.”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Egges</a:t>
            </a:r>
            <a:r>
              <a:rPr lang="en-US" altLang="zh-CN" dirty="0"/>
              <a:t>, A., Kshirsagar, S., &amp; </a:t>
            </a:r>
            <a:r>
              <a:rPr lang="en-US" altLang="zh-CN" dirty="0" err="1"/>
              <a:t>Magnenat</a:t>
            </a:r>
            <a:r>
              <a:rPr lang="en-US" altLang="zh-CN" dirty="0"/>
              <a:t>-Thalmann, N. (2003). “A Model for Personality and Emotion Simulation.”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Buechel, S. &amp; Hahn, U. (2017). “</a:t>
            </a:r>
            <a:r>
              <a:rPr lang="en-US" altLang="zh-CN" dirty="0" err="1"/>
              <a:t>EmoBank</a:t>
            </a:r>
            <a:r>
              <a:rPr lang="en-US" altLang="zh-CN" dirty="0"/>
              <a:t>: Studying the Impact of Annotation Perspective and Representation Format on Dimensional Emotion Analysis.”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Li, Y. et al. (2017). “</a:t>
            </a:r>
            <a:r>
              <a:rPr lang="en-US" altLang="zh-CN" dirty="0" err="1"/>
              <a:t>DailyDialog</a:t>
            </a:r>
            <a:r>
              <a:rPr lang="en-US" altLang="zh-CN" dirty="0"/>
              <a:t>: A Manually Labelled Multi-turn Dialogue Dataset.”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Rashkin, H. et al. (2019). “Towards Empathetic Open-domain Conversation Models.”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He, P., Gao, J. &amp; Chen, W. (2021). “DeBERTaV3: Improving </a:t>
            </a:r>
            <a:r>
              <a:rPr lang="en-US" altLang="zh-CN" dirty="0" err="1"/>
              <a:t>DeBERTa</a:t>
            </a:r>
            <a:r>
              <a:rPr lang="en-US" altLang="zh-CN" dirty="0"/>
              <a:t> using ELECTRA-style Pre-training with Gradient-disentangled Embedding Sharing.”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Cho, K. et al. (2014). “Learning Phrase Representations using RNN Encoder-Decoder for Statistical Machine Translation.”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Schuller, B. et al. (2024/2026). “Affective Computing Has Changed: The Foundation Model Disruption.”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Gandhi, K. et al. (2024). “Human-like Affective Cognition in Foundation Models.”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Ishikawa, S. &amp; Yoshino, A. (2025). “AI with Emotions: Exploring Emotional Expressions in Large Language Models.”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Abid, A. et al. (2019). “</a:t>
            </a:r>
            <a:r>
              <a:rPr lang="en-US" altLang="zh-CN" dirty="0" err="1"/>
              <a:t>Gradio</a:t>
            </a:r>
            <a:r>
              <a:rPr lang="en-US" altLang="zh-CN" dirty="0"/>
              <a:t>: Hassle-Free Sharing and Testing of ML Models in the Wild.”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06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1061</Words>
  <Application>Microsoft Office PowerPoint</Application>
  <PresentationFormat>宽屏</PresentationFormat>
  <Paragraphs>231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Yuyang Lin</dc:creator>
  <cp:lastModifiedBy>Yuyang Lin</cp:lastModifiedBy>
  <cp:revision>5</cp:revision>
  <dcterms:created xsi:type="dcterms:W3CDTF">2026-05-15T00:52:48Z</dcterms:created>
  <dcterms:modified xsi:type="dcterms:W3CDTF">2026-05-18T00:52:28Z</dcterms:modified>
</cp:coreProperties>
</file>